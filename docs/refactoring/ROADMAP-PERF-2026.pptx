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main.js (Mo)</c:v>
                </c:pt>
              </c:strCache>
            </c:strRef>
          </c:tx>
          <c:spPr>
            <a:solidFill>
              <a:srgbClr val="8FA8B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30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A8B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76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85A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Ph. 2 · esbuild</c:v>
                  </c:pt>
                  <c:pt idx="2">
                    <c:v>Ph. 3 · styles</c:v>
                  </c:pt>
                  <c:pt idx="3">
                    <c:v>Ph. 4+ · JS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5.93</c:v>
                </c:pt>
                <c:pt idx="1">
                  <c:v>5.6</c:v>
                </c:pt>
                <c:pt idx="2">
                  <c:v>4.4</c:v>
                </c:pt>
                <c:pt idx="3">
                  <c:v>4.3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1330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7A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</c:scaling>
        <c:delete val="0"/>
        <c:axPos val="l"/>
        <c:majorGridlines>
          <c:spPr>
            <a:ln w="6350" cap="flat">
              <a:solidFill>
                <a:srgbClr val="E3EB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7A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390388"/>
            <a:ext cx="118872" cy="964692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3" name="Shape 1"/>
          <p:cNvSpPr/>
          <p:nvPr/>
        </p:nvSpPr>
        <p:spPr>
          <a:xfrm>
            <a:off x="7221220" y="4864608"/>
            <a:ext cx="118872" cy="1490472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4" name="Shape 2"/>
          <p:cNvSpPr/>
          <p:nvPr/>
        </p:nvSpPr>
        <p:spPr>
          <a:xfrm>
            <a:off x="7493000" y="4233672"/>
            <a:ext cx="118872" cy="2121408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5" name="Shape 3"/>
          <p:cNvSpPr/>
          <p:nvPr/>
        </p:nvSpPr>
        <p:spPr>
          <a:xfrm>
            <a:off x="7764780" y="5074920"/>
            <a:ext cx="118872" cy="1280160"/>
          </a:xfrm>
          <a:prstGeom prst="roundRect">
            <a:avLst>
              <a:gd name="adj" fmla="val 46154"/>
            </a:avLst>
          </a:prstGeom>
          <a:solidFill>
            <a:srgbClr val="DCEAF0"/>
          </a:solidFill>
          <a:ln/>
        </p:spPr>
      </p:sp>
      <p:sp>
        <p:nvSpPr>
          <p:cNvPr id="6" name="Shape 4"/>
          <p:cNvSpPr/>
          <p:nvPr/>
        </p:nvSpPr>
        <p:spPr>
          <a:xfrm>
            <a:off x="8036560" y="4549140"/>
            <a:ext cx="118872" cy="1805940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7" name="Shape 5"/>
          <p:cNvSpPr/>
          <p:nvPr/>
        </p:nvSpPr>
        <p:spPr>
          <a:xfrm>
            <a:off x="8308340" y="4023360"/>
            <a:ext cx="118872" cy="2331720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8" name="Shape 6"/>
          <p:cNvSpPr/>
          <p:nvPr/>
        </p:nvSpPr>
        <p:spPr>
          <a:xfrm>
            <a:off x="8580120" y="4822546"/>
            <a:ext cx="118872" cy="1532534"/>
          </a:xfrm>
          <a:prstGeom prst="roundRect">
            <a:avLst>
              <a:gd name="adj" fmla="val 46154"/>
            </a:avLst>
          </a:prstGeom>
          <a:solidFill>
            <a:srgbClr val="E8A13D"/>
          </a:solidFill>
          <a:ln/>
        </p:spPr>
      </p:sp>
      <p:sp>
        <p:nvSpPr>
          <p:cNvPr id="9" name="Shape 7"/>
          <p:cNvSpPr/>
          <p:nvPr/>
        </p:nvSpPr>
        <p:spPr>
          <a:xfrm>
            <a:off x="8851900" y="5285232"/>
            <a:ext cx="118872" cy="1069848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10" name="Shape 8"/>
          <p:cNvSpPr/>
          <p:nvPr/>
        </p:nvSpPr>
        <p:spPr>
          <a:xfrm>
            <a:off x="9123680" y="4401922"/>
            <a:ext cx="118872" cy="1953158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11" name="Shape 9"/>
          <p:cNvSpPr/>
          <p:nvPr/>
        </p:nvSpPr>
        <p:spPr>
          <a:xfrm>
            <a:off x="9395460" y="4969764"/>
            <a:ext cx="118872" cy="1385316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12" name="Shape 10"/>
          <p:cNvSpPr/>
          <p:nvPr/>
        </p:nvSpPr>
        <p:spPr>
          <a:xfrm>
            <a:off x="9667240" y="4128516"/>
            <a:ext cx="118872" cy="2226564"/>
          </a:xfrm>
          <a:prstGeom prst="roundRect">
            <a:avLst>
              <a:gd name="adj" fmla="val 46154"/>
            </a:avLst>
          </a:prstGeom>
          <a:solidFill>
            <a:srgbClr val="DCEAF0"/>
          </a:solidFill>
          <a:ln/>
        </p:spPr>
      </p:sp>
      <p:sp>
        <p:nvSpPr>
          <p:cNvPr id="13" name="Shape 11"/>
          <p:cNvSpPr/>
          <p:nvPr/>
        </p:nvSpPr>
        <p:spPr>
          <a:xfrm>
            <a:off x="9939020" y="4654296"/>
            <a:ext cx="118872" cy="1700784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10800" y="5180076"/>
            <a:ext cx="118872" cy="1175004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82580" y="4338828"/>
            <a:ext cx="118872" cy="2016252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54360" y="4864608"/>
            <a:ext cx="118872" cy="1490472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26140" y="5495544"/>
            <a:ext cx="118872" cy="859536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97920" y="4612234"/>
            <a:ext cx="118872" cy="1742846"/>
          </a:xfrm>
          <a:prstGeom prst="roundRect">
            <a:avLst>
              <a:gd name="adj" fmla="val 46154"/>
            </a:avLst>
          </a:prstGeom>
          <a:solidFill>
            <a:srgbClr val="DCEAF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569700" y="5074920"/>
            <a:ext cx="118872" cy="1280160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1965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50" kern="0" dirty="0">
                <a:solidFill>
                  <a:srgbClr val="7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 · AMALIA CORE — PLAYER MULTIMÉDIA HTML5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2331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Refactoring performance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77724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post-migration Angular 21 · PrimeNG 21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7724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</a:t>
            </a:r>
            <a:pPr indent="0" marL="0">
              <a:buNone/>
            </a:pPr>
            <a:r>
              <a:rPr lang="en-US" sz="1150" b="1" dirty="0">
                <a:solidFill>
                  <a:srgbClr val="CFE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refactor/perf-v21</a:t>
            </a:r>
            <a:pPr indent="0" marL="0">
              <a:buNone/>
            </a:pPr>
            <a:r>
              <a:rPr lang="en-US" sz="1150" dirty="0">
                <a:solidFill>
                  <a:srgbClr val="8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Plan détaillé : </a:t>
            </a:r>
            <a:pPr indent="0" marL="0">
              <a:buNone/>
            </a:pPr>
            <a:r>
              <a:rPr lang="en-US" sz="1150" b="1" dirty="0">
                <a:solidFill>
                  <a:srgbClr val="CFE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docs/refactoring/PLAN-PERF-2026.md</a:t>
            </a:r>
            <a:pPr indent="0" marL="0">
              <a:buNone/>
            </a:pPr>
            <a:r>
              <a:rPr lang="en-US" sz="1150" dirty="0">
                <a:solidFill>
                  <a:srgbClr val="8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Juillet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DES LIEUX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constat après migration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montée de version 18 → 21 est fonctionnelle ; aucun levier de performance d'Angular 21 n'est encore exploité.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64008" cy="2743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0574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76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5,9 Mo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77240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unique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Webpack legacy, zéro code-splitting, lodash entier importé dans 8 fichiers.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2424" y="178308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92424" y="1783080"/>
            <a:ext cx="64008" cy="2743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2" name="Text 10"/>
          <p:cNvSpPr/>
          <p:nvPr/>
        </p:nvSpPr>
        <p:spPr>
          <a:xfrm>
            <a:off x="3621024" y="20574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76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×7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621024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21024" y="3273552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ré-entrées de zone et vérifications complètes de l'arbre par événement timeupdate.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36208" y="178308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36208" y="1783080"/>
            <a:ext cx="64008" cy="2743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7" name="Text 15"/>
          <p:cNvSpPr/>
          <p:nvPr/>
        </p:nvSpPr>
        <p:spPr>
          <a:xfrm>
            <a:off x="6464808" y="20574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76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13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464808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OnPush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64808" y="3273552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Default partout, compensée par ~29 detectChanges() manuels.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79992" y="178308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79992" y="1783080"/>
            <a:ext cx="64008" cy="2743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2" name="Text 20"/>
          <p:cNvSpPr/>
          <p:nvPr/>
        </p:nvSpPr>
        <p:spPr>
          <a:xfrm>
            <a:off x="9308592" y="20574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76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×5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9308592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dupliqué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08592" y="3273552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theme.css legacy (244 Ko) + primeflex + primeicons : 1 copie globale + 4 copies dans main.js, ≈ 1,4 Mo.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983480"/>
            <a:ext cx="11091672" cy="868680"/>
          </a:xfrm>
          <a:prstGeom prst="rect">
            <a:avLst/>
          </a:prstGeom>
          <a:solidFill>
            <a:srgbClr val="DCEAF0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212080"/>
            <a:ext cx="384048" cy="384048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17320" y="4983480"/>
            <a:ext cx="9948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côté rendu : </a:t>
            </a:r>
            <a:pPr indent="0" marL="0">
              <a:buNone/>
            </a:pPr>
            <a:r>
              <a:rPr lang="en-US" sz="1250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transcription crée un &lt;div&gt; par mot, sans virtualisation — des milliers de nœuds re-vérifiés à chaque cycle de change detection.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ARBITRAGES VALIDÉS LE 22 JUILLET 2026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Trois décisions actées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83864" cy="4297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713232" cy="713232"/>
          </a:xfrm>
          <a:prstGeom prst="ellipse">
            <a:avLst/>
          </a:prstGeom>
          <a:solidFill>
            <a:srgbClr val="DCEAF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57400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788920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 :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fichier unique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584448"/>
            <a:ext cx="28895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amalia-&lt;version&gt;.min.js conservé pour tous les intégrateurs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 dans le build : échec si un chunk apparaît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loading toujours possible plus tard (sortie ESM native)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2544" y="1554480"/>
            <a:ext cx="3483864" cy="4297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72584" y="1874520"/>
            <a:ext cx="713232" cy="713232"/>
          </a:xfrm>
          <a:prstGeom prst="ellipse">
            <a:avLst/>
          </a:prstGeom>
          <a:solidFill>
            <a:srgbClr val="DCEAF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205740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72584" y="2788920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Zoneless,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jusqu'au bout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72584" y="3584448"/>
            <a:ext cx="28895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 zone.js en phase finale (9)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durs : audit des 118 setTimeout, 100 % des composants OnPush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« zoneful » de secours pendant 1 release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56448" y="1554480"/>
            <a:ext cx="3483864" cy="4297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6488" y="1874520"/>
            <a:ext cx="713232" cy="713232"/>
          </a:xfrm>
          <a:prstGeom prst="ellipse">
            <a:avLst/>
          </a:prstGeom>
          <a:solidFill>
            <a:srgbClr val="DCEAF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68" y="20574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6488" y="2788920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primeicons →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sprite SVG maison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76488" y="3584448"/>
            <a:ext cx="28895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usages pi pi-* migrés vers le sprite existant (~80 icônes)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les glyphes déjà cassés en shadow DOM (@font-face ignoré)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−633 Ko de polices dans le dist, −120 Ko de CSS dupliqué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CIBLE — RUNTIME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store de signals alimenté hors zone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flux d'événements du player devient un modèle de lecture réactif ; l'API publique ne change pas.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9202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64008" cy="1600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2267712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&lt;video&gt; · &lt;audio&gt;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2761488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timeupdate natif (~4 Hz), seek, volume, vitesse…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50592" y="264718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834640" y="2103120"/>
            <a:ext cx="19202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34640" y="2103120"/>
            <a:ext cx="64008" cy="1600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2" name="Text 10"/>
          <p:cNvSpPr/>
          <p:nvPr/>
        </p:nvSpPr>
        <p:spPr>
          <a:xfrm>
            <a:off x="2999232" y="2267712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EventEmitter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999232" y="2761488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 vérité — API événementielle host inchangée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36592" y="264718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120640" y="2103120"/>
            <a:ext cx="1920240" cy="1600200"/>
          </a:xfrm>
          <a:prstGeom prst="rect">
            <a:avLst/>
          </a:prstGeom>
          <a:solidFill>
            <a:srgbClr val="085A75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85232" y="2267712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PlaybackState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85232" y="2761488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0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écrits hors zone : currentTime, playing, duration…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22592" y="264718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406640" y="2103120"/>
            <a:ext cx="19202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06640" y="2103120"/>
            <a:ext cx="64008" cy="1600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2267712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Composants OnPush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71232" y="2761488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computeds : time-bar, control-bar, subtitles, timeline…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08592" y="264718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692640" y="2103120"/>
            <a:ext cx="19202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692640" y="2103120"/>
            <a:ext cx="64008" cy="1600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6" name="Text 24"/>
          <p:cNvSpPr/>
          <p:nvPr/>
        </p:nvSpPr>
        <p:spPr>
          <a:xfrm>
            <a:off x="9857232" y="2267712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tick coalescé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57232" y="2761488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hybride — seules les vues touchées sont re-rendues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1672" cy="1371600"/>
          </a:xfrm>
          <a:prstGeom prst="rect">
            <a:avLst/>
          </a:prstGeom>
          <a:solidFill>
            <a:srgbClr val="DCEAF0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0056"/>
            <a:ext cx="384048" cy="384048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417320" y="4526280"/>
            <a:ext cx="9902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Angular 18 (stable en 21), une écriture de signal hors zone programme un tick coalescé — en mode zone comme en zoneless.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composants migrent un par un vers playback.currentTime() ; le passage zoneless final se réduit à un échange de provider, sans big bang.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 phases, 3 chantiers — chaque phase livrable seule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7047" y="1874520"/>
            <a:ext cx="4764855" cy="475488"/>
          </a:xfrm>
          <a:prstGeom prst="roundRect">
            <a:avLst>
              <a:gd name="adj" fmla="val 17308"/>
            </a:avLst>
          </a:prstGeom>
          <a:solidFill>
            <a:srgbClr val="0B7698"/>
          </a:solidFill>
          <a:ln/>
        </p:spPr>
      </p:sp>
      <p:sp>
        <p:nvSpPr>
          <p:cNvPr id="5" name="Text 3"/>
          <p:cNvSpPr/>
          <p:nvPr/>
        </p:nvSpPr>
        <p:spPr>
          <a:xfrm>
            <a:off x="687047" y="1874520"/>
            <a:ext cx="4764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· Fondations build &amp; styles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728716" y="1874520"/>
            <a:ext cx="3756521" cy="475488"/>
          </a:xfrm>
          <a:prstGeom prst="roundRect">
            <a:avLst>
              <a:gd name="adj" fmla="val 17308"/>
            </a:avLst>
          </a:prstGeom>
          <a:solidFill>
            <a:srgbClr val="1187B0"/>
          </a:solidFill>
          <a:ln/>
        </p:spPr>
      </p:sp>
      <p:sp>
        <p:nvSpPr>
          <p:cNvPr id="7" name="Text 5"/>
          <p:cNvSpPr/>
          <p:nvPr/>
        </p:nvSpPr>
        <p:spPr>
          <a:xfrm>
            <a:off x="5728716" y="1874520"/>
            <a:ext cx="375652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 · Architecture runtime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597459" y="1874520"/>
            <a:ext cx="2069038" cy="475488"/>
          </a:xfrm>
          <a:prstGeom prst="roundRect">
            <a:avLst>
              <a:gd name="adj" fmla="val 17308"/>
            </a:avLst>
          </a:prstGeom>
          <a:solidFill>
            <a:srgbClr val="E8A13D"/>
          </a:solidFill>
          <a:ln/>
        </p:spPr>
      </p:sp>
      <p:sp>
        <p:nvSpPr>
          <p:cNvPr id="9" name="Text 7"/>
          <p:cNvSpPr/>
          <p:nvPr/>
        </p:nvSpPr>
        <p:spPr>
          <a:xfrm>
            <a:off x="9597459" y="1874520"/>
            <a:ext cx="20690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B2A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· Zoneless &amp; clôture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2807" y="3291840"/>
            <a:ext cx="10083338" cy="0"/>
          </a:xfrm>
          <a:prstGeom prst="line">
            <a:avLst/>
          </a:prstGeom>
          <a:noFill/>
          <a:ln w="31750">
            <a:solidFill>
              <a:srgbClr val="1D5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9051" y="2958084"/>
            <a:ext cx="667512" cy="667512"/>
          </a:xfrm>
          <a:prstGeom prst="ellipse">
            <a:avLst/>
          </a:prstGeom>
          <a:solidFill>
            <a:srgbClr val="0A2E3B"/>
          </a:solidFill>
          <a:ln w="34925">
            <a:solidFill>
              <a:srgbClr val="3E9B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6775" y="3035808"/>
            <a:ext cx="512064" cy="512064"/>
          </a:xfrm>
          <a:prstGeom prst="ellipse">
            <a:avLst/>
          </a:prstGeom>
          <a:solidFill>
            <a:srgbClr val="0B7698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6775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30352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plan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27385" y="2958084"/>
            <a:ext cx="667512" cy="667512"/>
          </a:xfrm>
          <a:prstGeom prst="ellipse">
            <a:avLst/>
          </a:prstGeom>
          <a:solidFill>
            <a:srgbClr val="0A2E3B"/>
          </a:solidFill>
          <a:ln w="349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05109" y="3035808"/>
            <a:ext cx="512064" cy="512064"/>
          </a:xfrm>
          <a:prstGeom prst="ellipse">
            <a:avLst/>
          </a:prstGeom>
          <a:solidFill>
            <a:srgbClr val="0B7698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05109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38686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13443" y="3035808"/>
            <a:ext cx="512064" cy="512064"/>
          </a:xfrm>
          <a:prstGeom prst="ellipse">
            <a:avLst/>
          </a:prstGeom>
          <a:solidFill>
            <a:srgbClr val="0B7698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13443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547020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esbuild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821776" y="3035808"/>
            <a:ext cx="512064" cy="512064"/>
          </a:xfrm>
          <a:prstGeom prst="ellipse">
            <a:avLst/>
          </a:prstGeom>
          <a:solidFill>
            <a:srgbClr val="0B7698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21776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555353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30110" y="3035808"/>
            <a:ext cx="512064" cy="512064"/>
          </a:xfrm>
          <a:prstGeom prst="ellipse">
            <a:avLst/>
          </a:prstGeom>
          <a:solidFill>
            <a:srgbClr val="0B7698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30110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63687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tsconfig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838444" y="3035808"/>
            <a:ext cx="512064" cy="512064"/>
          </a:xfrm>
          <a:prstGeom prst="ellipse">
            <a:avLst/>
          </a:prstGeom>
          <a:solidFill>
            <a:srgbClr val="1187B0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8444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572021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46778" y="3035808"/>
            <a:ext cx="512064" cy="512064"/>
          </a:xfrm>
          <a:prstGeom prst="ellipse">
            <a:avLst/>
          </a:prstGeom>
          <a:solidFill>
            <a:srgbClr val="1187B0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46778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580355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PlaybackState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855112" y="3035808"/>
            <a:ext cx="512064" cy="512064"/>
          </a:xfrm>
          <a:prstGeom prst="ellipse">
            <a:avLst/>
          </a:prstGeom>
          <a:solidFill>
            <a:srgbClr val="1187B0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55112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588689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OnPush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 vagues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863445" y="3035808"/>
            <a:ext cx="512064" cy="512064"/>
          </a:xfrm>
          <a:prstGeom prst="ellipse">
            <a:avLst/>
          </a:prstGeom>
          <a:solidFill>
            <a:srgbClr val="1187B0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863445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597023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Hors-zone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@defer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871779" y="3035808"/>
            <a:ext cx="512064" cy="512064"/>
          </a:xfrm>
          <a:prstGeom prst="ellipse">
            <a:avLst/>
          </a:prstGeom>
          <a:solidFill>
            <a:srgbClr val="E8A13D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871779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2A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9605356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Zoneless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880113" y="3035808"/>
            <a:ext cx="512064" cy="512064"/>
          </a:xfrm>
          <a:prstGeom prst="ellipse">
            <a:avLst/>
          </a:prstGeom>
          <a:solidFill>
            <a:srgbClr val="E8A13D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80113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2A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0613690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" y="4846320"/>
            <a:ext cx="219456" cy="219456"/>
          </a:xfrm>
          <a:prstGeom prst="ellipse">
            <a:avLst/>
          </a:prstGeom>
          <a:solidFill>
            <a:srgbClr val="0A2E3B"/>
          </a:solidFill>
          <a:ln w="28575">
            <a:solidFill>
              <a:srgbClr val="3E9B6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48280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627632" y="4846320"/>
            <a:ext cx="219456" cy="219456"/>
          </a:xfrm>
          <a:prstGeom prst="ellipse">
            <a:avLst/>
          </a:prstGeom>
          <a:solidFill>
            <a:srgbClr val="0A2E3B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38528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944368" y="4846320"/>
            <a:ext cx="219456" cy="219456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51" name="Text 49"/>
          <p:cNvSpPr/>
          <p:nvPr/>
        </p:nvSpPr>
        <p:spPr>
          <a:xfrm>
            <a:off x="3255264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venir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48640" y="5486400"/>
            <a:ext cx="11091672" cy="713232"/>
          </a:xfrm>
          <a:prstGeom prst="rect">
            <a:avLst/>
          </a:prstGeom>
          <a:solidFill>
            <a:srgbClr val="0E4A5F"/>
          </a:solidFill>
          <a:ln/>
        </p:spPr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0"/>
            <a:ext cx="329184" cy="329184"/>
          </a:xfrm>
          <a:prstGeom prst="rect">
            <a:avLst/>
          </a:prstGeom>
        </p:spPr>
      </p:pic>
      <p:sp>
        <p:nvSpPr>
          <p:cNvPr id="54" name="Text 51"/>
          <p:cNvSpPr/>
          <p:nvPr/>
        </p:nvSpPr>
        <p:spPr>
          <a:xfrm>
            <a:off x="1325880" y="5486400"/>
            <a:ext cx="10040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systématiques à chaque phase :  </a:t>
            </a:r>
            <a:pPr indent="0" marL="0"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 lint  ·  856 specs  ·  build production  ·  rapport de taille  ·  smoke checklist sur les samples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 A — PHASES 0 → 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Fondations : build, styles, bundle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7635240" cy="8759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99870"/>
            <a:ext cx="438912" cy="438912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9987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89888" y="1591056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&amp; plan persisté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389888" y="1911096"/>
            <a:ext cx="6227064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docs/refactoring/ (plan, checklists, audit), script size-report — 14,7 Mo de dist mesurés.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680960" y="1791310"/>
            <a:ext cx="256032" cy="25603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E9B6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1252" y="1841602"/>
            <a:ext cx="155448" cy="15544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2485339"/>
            <a:ext cx="7635240" cy="8759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703881"/>
            <a:ext cx="438912" cy="438912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70388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89888" y="2595067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wins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389888" y="2915107"/>
            <a:ext cx="6227064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Coalescing de zone (1 CD/frame), hygiène package.json, mémoïsation des templates chauds, retrait de @angular/animations.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680960" y="2795321"/>
            <a:ext cx="256032" cy="25603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A13D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824" y="2850185"/>
            <a:ext cx="146304" cy="14630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48640" y="3489350"/>
            <a:ext cx="7635240" cy="8759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9808" y="3707892"/>
            <a:ext cx="438912" cy="438912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0" name="Text 16"/>
          <p:cNvSpPr/>
          <p:nvPr/>
        </p:nvSpPr>
        <p:spPr>
          <a:xfrm>
            <a:off x="749808" y="37078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1389888" y="3599078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 esbuild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1389888" y="3919118"/>
            <a:ext cx="6227064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@angular/build:application + karma moderne ; le concat devient copie + garde-fou anti-chunk (contrat mono-fichier).</a:t>
            </a:r>
            <a:endParaRPr lang="en-US" sz="1080" dirty="0"/>
          </a:p>
        </p:txBody>
      </p:sp>
      <p:sp>
        <p:nvSpPr>
          <p:cNvPr id="23" name="Shape 19"/>
          <p:cNvSpPr/>
          <p:nvPr/>
        </p:nvSpPr>
        <p:spPr>
          <a:xfrm>
            <a:off x="7722108" y="3840480"/>
            <a:ext cx="173736" cy="173736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4493362"/>
            <a:ext cx="7635240" cy="8759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9808" y="4711903"/>
            <a:ext cx="438912" cy="438912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6" name="Text 22"/>
          <p:cNvSpPr/>
          <p:nvPr/>
        </p:nvSpPr>
        <p:spPr>
          <a:xfrm>
            <a:off x="749808" y="471190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1389888" y="4603090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Déduplication des styles</a:t>
            </a:r>
            <a:endParaRPr lang="en-US" sz="1350" dirty="0"/>
          </a:p>
        </p:txBody>
      </p:sp>
      <p:sp>
        <p:nvSpPr>
          <p:cNvPr id="28" name="Text 24"/>
          <p:cNvSpPr/>
          <p:nvPr/>
        </p:nvSpPr>
        <p:spPr>
          <a:xfrm>
            <a:off x="1389888" y="4923130"/>
            <a:ext cx="6227064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Miroir des styles PrimeNG vers les shadow roots, suppression du theme.css legacy (244 Ko ×5), de primeflex et de primeicons.</a:t>
            </a:r>
            <a:endParaRPr lang="en-US" sz="1080" dirty="0"/>
          </a:p>
        </p:txBody>
      </p:sp>
      <p:sp>
        <p:nvSpPr>
          <p:cNvPr id="29" name="Shape 25"/>
          <p:cNvSpPr/>
          <p:nvPr/>
        </p:nvSpPr>
        <p:spPr>
          <a:xfrm>
            <a:off x="7722108" y="4844491"/>
            <a:ext cx="173736" cy="173736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30" name="Shape 26"/>
          <p:cNvSpPr/>
          <p:nvPr/>
        </p:nvSpPr>
        <p:spPr>
          <a:xfrm>
            <a:off x="548640" y="5497373"/>
            <a:ext cx="7635240" cy="8759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749808" y="5715914"/>
            <a:ext cx="438912" cy="438912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32" name="Text 28"/>
          <p:cNvSpPr/>
          <p:nvPr/>
        </p:nvSpPr>
        <p:spPr>
          <a:xfrm>
            <a:off x="749808" y="57159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1389888" y="5607101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Réductions JS &amp; tsconfig</a:t>
            </a:r>
            <a:endParaRPr lang="en-US" sz="1350" dirty="0"/>
          </a:p>
        </p:txBody>
      </p:sp>
      <p:sp>
        <p:nvSpPr>
          <p:cNvPr id="34" name="Text 30"/>
          <p:cNvSpPr/>
          <p:nvPr/>
        </p:nvSpPr>
        <p:spPr>
          <a:xfrm>
            <a:off x="1389888" y="5927141"/>
            <a:ext cx="6227064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lodash par méthode (8 fichiers), import type hls.js, isolatedModules + flags de rigueur ciblés.</a:t>
            </a:r>
            <a:endParaRPr lang="en-US" sz="1080" dirty="0"/>
          </a:p>
        </p:txBody>
      </p:sp>
      <p:sp>
        <p:nvSpPr>
          <p:cNvPr id="35" name="Shape 31"/>
          <p:cNvSpPr/>
          <p:nvPr/>
        </p:nvSpPr>
        <p:spPr>
          <a:xfrm>
            <a:off x="7722108" y="5848502"/>
            <a:ext cx="173736" cy="173736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36" name="Shape 32"/>
          <p:cNvSpPr/>
          <p:nvPr/>
        </p:nvSpPr>
        <p:spPr>
          <a:xfrm>
            <a:off x="8503920" y="1481328"/>
            <a:ext cx="3136392" cy="4892040"/>
          </a:xfrm>
          <a:prstGeom prst="rect">
            <a:avLst/>
          </a:prstGeom>
          <a:solidFill>
            <a:srgbClr val="0B7698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37" name="Text 33"/>
          <p:cNvSpPr/>
          <p:nvPr/>
        </p:nvSpPr>
        <p:spPr>
          <a:xfrm>
            <a:off x="8778240" y="1755648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CB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ATTENDU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8778240" y="2048256"/>
            <a:ext cx="2587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−1,6 Mo</a:t>
            </a:r>
            <a:endParaRPr lang="en-US" sz="4000" dirty="0"/>
          </a:p>
        </p:txBody>
      </p:sp>
      <p:sp>
        <p:nvSpPr>
          <p:cNvPr id="39" name="Text 35"/>
          <p:cNvSpPr/>
          <p:nvPr/>
        </p:nvSpPr>
        <p:spPr>
          <a:xfrm>
            <a:off x="8778240" y="301752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main.js : 5,93 → ~4,3 Mo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8778240" y="3694176"/>
            <a:ext cx="2633472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styles.css : 723 Ko → ~5 Ko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Polices dans le dist : 1,49 Mo → 0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 production : minutes → ~20 s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angular.json enfin opérants</a:t>
            </a:r>
            <a:endParaRPr lang="en-US" sz="1150" dirty="0"/>
          </a:p>
        </p:txBody>
      </p:sp>
      <p:sp>
        <p:nvSpPr>
          <p:cNvPr id="41" name="Text 37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 B — PHASES 5 → 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runtime : signals &amp; OnPush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7635240" cy="112699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25371"/>
            <a:ext cx="438912" cy="438912"/>
          </a:xfrm>
          <a:prstGeom prst="rect">
            <a:avLst/>
          </a:prstGeom>
          <a:solidFill>
            <a:srgbClr val="1187B0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2537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89888" y="1591056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Standalone + createApplication()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389888" y="1911096"/>
            <a:ext cx="6227064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Neutre en comportement ; supprime AppModule et HttpClientModule déprécié ; specs migrées declarations → imports.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722108" y="1957959"/>
            <a:ext cx="173736" cy="173736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736342"/>
            <a:ext cx="7635240" cy="112699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3080385"/>
            <a:ext cx="438912" cy="438912"/>
          </a:xfrm>
          <a:prstGeom prst="rect">
            <a:avLst/>
          </a:prstGeom>
          <a:solidFill>
            <a:srgbClr val="1187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080385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2846070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PlaybackState + politique de zone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389888" y="3166110"/>
            <a:ext cx="6227064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hors zone par MediaPlayerElement ; addListener rétro-compatible avec politiques 'zone' | 'schedule' | 'none'.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722108" y="3212973"/>
            <a:ext cx="173736" cy="173736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991356"/>
            <a:ext cx="7635240" cy="112699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4335399"/>
            <a:ext cx="438912" cy="438912"/>
          </a:xfrm>
          <a:prstGeom prst="rect">
            <a:avLst/>
          </a:prstGeom>
          <a:solidFill>
            <a:srgbClr val="1187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33539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89888" y="4101084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OnPush par vagues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89888" y="4421124"/>
            <a:ext cx="6227064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composant = 1 PR. Vague 1 : toast, messages, subtitles, time-bar · Vague 2 : storyboard, histogram, transcription, timeline · Vague 3 : player, control-bar, annotation.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722108" y="4467987"/>
            <a:ext cx="173736" cy="173736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5246370"/>
            <a:ext cx="7635240" cy="112699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9808" y="5590413"/>
            <a:ext cx="438912" cy="438912"/>
          </a:xfrm>
          <a:prstGeom prst="rect">
            <a:avLst/>
          </a:prstGeom>
          <a:solidFill>
            <a:srgbClr val="1187B0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59041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89888" y="5356098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Hors-zone + @defer transcription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389888" y="5676138"/>
            <a:ext cx="6227064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mousemove/scroll hors zone (rAF) ; rendu différé par segment avec placeholder isométrique ; triage des 118 setTimeout.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7722108" y="5723001"/>
            <a:ext cx="173736" cy="173736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28" name="Shape 26"/>
          <p:cNvSpPr/>
          <p:nvPr/>
        </p:nvSpPr>
        <p:spPr>
          <a:xfrm>
            <a:off x="8503920" y="1481328"/>
            <a:ext cx="3136392" cy="4892040"/>
          </a:xfrm>
          <a:prstGeom prst="rect">
            <a:avLst/>
          </a:prstGeom>
          <a:solidFill>
            <a:srgbClr val="0B7698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778240" y="1755648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CB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ATTENDU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778240" y="2048256"/>
            <a:ext cx="2587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×7 → 1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8778240" y="301752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coalescé par timeupdate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778240" y="3694176"/>
            <a:ext cx="2633472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Seules les vues OnPush touchées sont re-vérifiées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Survol du player au repos : zéro tick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Transcriptions longues : coût initial ≈ divisé par le nombre de segments hors écran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 C — PHASES 9 → 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Zoneless, puis clôture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8064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37360"/>
            <a:ext cx="438912" cy="438912"/>
          </a:xfrm>
          <a:prstGeom prst="rect">
            <a:avLst/>
          </a:prstGeom>
          <a:solidFill>
            <a:srgbClr val="E8A13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2A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89888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Zoneless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389888" y="1984248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provideZonelessChangeDetection(), retrait de zone.js (−35 Ko gzip, fin de l'interception des tâches), suppression de la branche 'zone' de PluginBase.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58064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3273552"/>
            <a:ext cx="438912" cy="438912"/>
          </a:xfrm>
          <a:prstGeom prst="rect">
            <a:avLst/>
          </a:prstGeom>
          <a:solidFill>
            <a:srgbClr val="E8A13D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3273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2A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89888" y="3163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Clôture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389888" y="35204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resserrés (4,2 / 4,5 Mo), CHANGELOG, vérification des docs d'intégration — le contrat mono-fichier reste inchangé.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48640" y="4645152"/>
            <a:ext cx="5806440" cy="1417320"/>
          </a:xfrm>
          <a:prstGeom prst="rect">
            <a:avLst/>
          </a:prstGeom>
          <a:solidFill>
            <a:srgbClr val="DCEAF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148072"/>
            <a:ext cx="384048" cy="38404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389888" y="478231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maîtrisé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commit à reverter, et une configuration de build « zoneful » conservée dans angular.json pendant une release complète.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720840" y="1481328"/>
            <a:ext cx="4919472" cy="4572000"/>
          </a:xfrm>
          <a:prstGeom prst="rect">
            <a:avLst/>
          </a:prstGeom>
          <a:solidFill>
            <a:srgbClr val="0A2E3B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01368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589520" y="1773936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Gates durs avant le zoneless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086600" y="2542032"/>
            <a:ext cx="219456" cy="219456"/>
          </a:xfrm>
          <a:prstGeom prst="ellipse">
            <a:avLst/>
          </a:prstGeom>
          <a:solidFill>
            <a:srgbClr val="0A2E3B"/>
          </a:solidFill>
          <a:ln w="25400">
            <a:solidFill>
              <a:srgbClr val="DCEA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88936" y="2505456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des 118 setTimeout soldé (catégories « mutation d'état » et « attente de rendu »)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7086600" y="3255264"/>
            <a:ext cx="219456" cy="219456"/>
          </a:xfrm>
          <a:prstGeom prst="ellipse">
            <a:avLst/>
          </a:prstGeom>
          <a:solidFill>
            <a:srgbClr val="0A2E3B"/>
          </a:solidFill>
          <a:ln w="25400">
            <a:solidFill>
              <a:srgbClr val="DCEA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488936" y="3218688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 composants passés en OnPush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7086600" y="3968496"/>
            <a:ext cx="219456" cy="219456"/>
          </a:xfrm>
          <a:prstGeom prst="ellipse">
            <a:avLst/>
          </a:prstGeom>
          <a:solidFill>
            <a:srgbClr val="0A2E3B"/>
          </a:solidFill>
          <a:ln w="25400">
            <a:solidFill>
              <a:srgbClr val="DCEA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488936" y="3931920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aucun listener en politique « zone »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7086600" y="4681728"/>
            <a:ext cx="219456" cy="219456"/>
          </a:xfrm>
          <a:prstGeom prst="ellipse">
            <a:avLst/>
          </a:prstGeom>
          <a:solidFill>
            <a:srgbClr val="0A2E3B"/>
          </a:solidFill>
          <a:ln w="25400">
            <a:solidFill>
              <a:srgbClr val="DCEA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488936" y="4645152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→ 8 en production depuis ≥ 1 cycle de release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086600" y="5394960"/>
            <a:ext cx="219456" cy="219456"/>
          </a:xfrm>
          <a:prstGeom prst="ellipse">
            <a:avLst/>
          </a:prstGeom>
          <a:solidFill>
            <a:srgbClr val="0A2E3B"/>
          </a:solidFill>
          <a:ln w="25400">
            <a:solidFill>
              <a:srgbClr val="DCEAF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488936" y="5358384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provideCheckNoChangesConfig({ exhaustive }) actif en dev pour traquer les notifications manquées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ça change, en chiffres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Tailles de main.js attendues par phase (Mo, non compressé) — suivies par scripts/size-report.mjs à chaque livraison.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20840" cy="4343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graphicFrame>
        <p:nvGraphicFramePr>
          <p:cNvPr id="6" name="Chart 0" descr=""/>
          <p:cNvGraphicFramePr/>
          <p:nvPr/>
        </p:nvGraphicFramePr>
        <p:xfrm>
          <a:off x="777240" y="1920240"/>
          <a:ext cx="62636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1691640"/>
            <a:ext cx="4050792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0" y="1691640"/>
            <a:ext cx="64008" cy="100584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9" name="Text 6"/>
          <p:cNvSpPr/>
          <p:nvPr/>
        </p:nvSpPr>
        <p:spPr>
          <a:xfrm>
            <a:off x="7845552" y="1801368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85A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×7 → 1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845552" y="226771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detections par timeupdate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89520" y="2804160"/>
            <a:ext cx="4050792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589520" y="2804160"/>
            <a:ext cx="64008" cy="100584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3" name="Text 10"/>
          <p:cNvSpPr/>
          <p:nvPr/>
        </p:nvSpPr>
        <p:spPr>
          <a:xfrm>
            <a:off x="7845552" y="2913888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85A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723 Ko → ~5 Ko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845552" y="338023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styles.css global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89520" y="3916680"/>
            <a:ext cx="4050792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589520" y="3916680"/>
            <a:ext cx="64008" cy="100584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7" name="Text 14"/>
          <p:cNvSpPr/>
          <p:nvPr/>
        </p:nvSpPr>
        <p:spPr>
          <a:xfrm>
            <a:off x="7845552" y="4026408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85A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1,49 Mo → 0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845552" y="449275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polices dans le dist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589520" y="5029200"/>
            <a:ext cx="4050792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589520" y="5029200"/>
            <a:ext cx="64008" cy="100584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1" name="Text 18"/>
          <p:cNvSpPr/>
          <p:nvPr/>
        </p:nvSpPr>
        <p:spPr>
          <a:xfrm>
            <a:off x="7845552" y="5138928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85A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minutes → ~20 s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7845552" y="560527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 production (Webpack → esbuild)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 DU RISQUE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Risques identifiés, garde-fous prévus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417320" y="1463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26948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1091672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82880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Coalescing : latence d'une frame perçue sur drag et menus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720840" y="1975104"/>
            <a:ext cx="0" cy="457200"/>
          </a:xfrm>
          <a:prstGeom prst="line">
            <a:avLst/>
          </a:prstGeom>
          <a:noFill/>
          <a:ln w="12700">
            <a:solidFill>
              <a:srgbClr val="DCE7E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20848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d'une seule ligne — revert immédiat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688336"/>
            <a:ext cx="11091672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16936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2688336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du theme.css : régressions visuelles dans les zones PrimeNG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720840" y="2834640"/>
            <a:ext cx="0" cy="457200"/>
          </a:xfrm>
          <a:prstGeom prst="line">
            <a:avLst/>
          </a:prstGeom>
          <a:noFill/>
          <a:ln w="12700">
            <a:solidFill>
              <a:srgbClr val="DCE7EB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94436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269480" y="2688336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Miroir shadow DOM posé avant la suppression ; commits séparés ; checklist visuelle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48640" y="3547872"/>
            <a:ext cx="11091672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776472"/>
            <a:ext cx="292608" cy="29260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17320" y="3547872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OnPush : vue figée si une notification de changement manque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6720840" y="3694176"/>
            <a:ext cx="0" cy="457200"/>
          </a:xfrm>
          <a:prstGeom prst="line">
            <a:avLst/>
          </a:prstGeom>
          <a:noFill/>
          <a:ln w="12700">
            <a:solidFill>
              <a:srgbClr val="DCE7EB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6288" y="3803904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269480" y="354787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composant par PR ; checkNoChanges exhaustif en dev ; revert par composant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548640" y="4407408"/>
            <a:ext cx="11091672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4636008"/>
            <a:ext cx="292608" cy="29260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1417320" y="440740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@defer transcription : recherche sur des blocs non hydratés</a:t>
            </a:r>
            <a:endParaRPr lang="en-US" sz="1150" dirty="0"/>
          </a:p>
        </p:txBody>
      </p:sp>
      <p:sp>
        <p:nvSpPr>
          <p:cNvPr id="27" name="Shape 18"/>
          <p:cNvSpPr/>
          <p:nvPr/>
        </p:nvSpPr>
        <p:spPr>
          <a:xfrm>
            <a:off x="6720840" y="4553712"/>
            <a:ext cx="0" cy="457200"/>
          </a:xfrm>
          <a:prstGeom prst="line">
            <a:avLst/>
          </a:prstGeom>
          <a:noFill/>
          <a:ln w="12700">
            <a:solidFill>
              <a:srgbClr val="DCE7EB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6288" y="466344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7269480" y="440740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forceRenderAll ; placeholder isométrique ; feature-flag dans la config du plugin</a:t>
            </a:r>
            <a:endParaRPr lang="en-US" sz="1100" dirty="0"/>
          </a:p>
        </p:txBody>
      </p:sp>
      <p:sp>
        <p:nvSpPr>
          <p:cNvPr id="30" name="Shape 20"/>
          <p:cNvSpPr/>
          <p:nvPr/>
        </p:nvSpPr>
        <p:spPr>
          <a:xfrm>
            <a:off x="548640" y="5266944"/>
            <a:ext cx="11091672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" y="5495544"/>
            <a:ext cx="292608" cy="292608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1417320" y="526694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Zoneless : un setTimeout mutateur oublié fige le rendu</a:t>
            </a:r>
            <a:endParaRPr lang="en-US" sz="1150" dirty="0"/>
          </a:p>
        </p:txBody>
      </p:sp>
      <p:sp>
        <p:nvSpPr>
          <p:cNvPr id="33" name="Shape 22"/>
          <p:cNvSpPr/>
          <p:nvPr/>
        </p:nvSpPr>
        <p:spPr>
          <a:xfrm>
            <a:off x="6720840" y="5413248"/>
            <a:ext cx="0" cy="457200"/>
          </a:xfrm>
          <a:prstGeom prst="line">
            <a:avLst/>
          </a:prstGeom>
          <a:noFill/>
          <a:ln w="12700">
            <a:solidFill>
              <a:srgbClr val="DCE7EB"/>
            </a:solidFill>
            <a:prstDash val="solid"/>
          </a:ln>
        </p:spPr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76288" y="5522976"/>
            <a:ext cx="237744" cy="237744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7269480" y="526694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exhaustif en gate ; configuration « zoneful » de secours pendant 1 release</a:t>
            </a:r>
            <a:endParaRPr lang="en-US" sz="1100" dirty="0"/>
          </a:p>
        </p:txBody>
      </p:sp>
      <p:sp>
        <p:nvSpPr>
          <p:cNvPr id="36" name="Text 24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37" name="Text 25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5692140"/>
            <a:ext cx="118872" cy="708660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3" name="Shape 1"/>
          <p:cNvSpPr/>
          <p:nvPr/>
        </p:nvSpPr>
        <p:spPr>
          <a:xfrm>
            <a:off x="9652635" y="5404104"/>
            <a:ext cx="118872" cy="996696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4" name="Shape 2"/>
          <p:cNvSpPr/>
          <p:nvPr/>
        </p:nvSpPr>
        <p:spPr>
          <a:xfrm>
            <a:off x="9841230" y="5788152"/>
            <a:ext cx="118872" cy="612648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5" name="Shape 3"/>
          <p:cNvSpPr/>
          <p:nvPr/>
        </p:nvSpPr>
        <p:spPr>
          <a:xfrm>
            <a:off x="10029825" y="5212080"/>
            <a:ext cx="118872" cy="1188720"/>
          </a:xfrm>
          <a:prstGeom prst="roundRect">
            <a:avLst>
              <a:gd name="adj" fmla="val 46154"/>
            </a:avLst>
          </a:prstGeom>
          <a:solidFill>
            <a:srgbClr val="DCEAF0"/>
          </a:solidFill>
          <a:ln/>
        </p:spPr>
      </p:sp>
      <p:sp>
        <p:nvSpPr>
          <p:cNvPr id="6" name="Shape 4"/>
          <p:cNvSpPr/>
          <p:nvPr/>
        </p:nvSpPr>
        <p:spPr>
          <a:xfrm>
            <a:off x="10218420" y="5548122"/>
            <a:ext cx="118872" cy="852678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7" name="Shape 5"/>
          <p:cNvSpPr/>
          <p:nvPr/>
        </p:nvSpPr>
        <p:spPr>
          <a:xfrm>
            <a:off x="10407015" y="5836158"/>
            <a:ext cx="118872" cy="564642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8" name="Shape 6"/>
          <p:cNvSpPr/>
          <p:nvPr/>
        </p:nvSpPr>
        <p:spPr>
          <a:xfrm>
            <a:off x="10595610" y="5308092"/>
            <a:ext cx="118872" cy="1092708"/>
          </a:xfrm>
          <a:prstGeom prst="roundRect">
            <a:avLst>
              <a:gd name="adj" fmla="val 46154"/>
            </a:avLst>
          </a:prstGeom>
          <a:solidFill>
            <a:srgbClr val="E8A13D"/>
          </a:solidFill>
          <a:ln/>
        </p:spPr>
      </p:sp>
      <p:sp>
        <p:nvSpPr>
          <p:cNvPr id="9" name="Shape 7"/>
          <p:cNvSpPr/>
          <p:nvPr/>
        </p:nvSpPr>
        <p:spPr>
          <a:xfrm>
            <a:off x="10784205" y="5644134"/>
            <a:ext cx="118872" cy="756666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 exécution incrémentale et réversible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7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AU 23 JUILLET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057400"/>
            <a:ext cx="274320" cy="274320"/>
          </a:xfrm>
          <a:prstGeom prst="ellipse">
            <a:avLst/>
          </a:prstGeom>
          <a:solidFill>
            <a:srgbClr val="0A2E3B"/>
          </a:solidFill>
          <a:ln w="28575">
            <a:solidFill>
              <a:srgbClr val="3E9B6E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112264"/>
            <a:ext cx="164592" cy="16459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51560" y="1938528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livrée — plan persisté, baseline 14,7 Mo, outillage de mesure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2770632"/>
            <a:ext cx="274320" cy="274320"/>
          </a:xfrm>
          <a:prstGeom prst="ellipse">
            <a:avLst/>
          </a:prstGeom>
          <a:solidFill>
            <a:srgbClr val="0A2E3B"/>
          </a:solidFill>
          <a:ln w="28575">
            <a:solidFill>
              <a:srgbClr val="E8A13D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" y="2830068"/>
            <a:ext cx="155448" cy="15544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051560" y="265176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: code terminé (coalescing, hygiène deps, templates chauds) — validation des 856 specs en cours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03504" y="3520440"/>
            <a:ext cx="201168" cy="201168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20" name="Text 16"/>
          <p:cNvSpPr/>
          <p:nvPr/>
        </p:nvSpPr>
        <p:spPr>
          <a:xfrm>
            <a:off x="1051560" y="33649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2 → 10 : prêtes à dérouler, une livraison par phase, gates à chaque étape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54864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7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PHASE PASSE LES MÊMES GATES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48640" y="4800600"/>
            <a:ext cx="1065276" cy="457200"/>
          </a:xfrm>
          <a:prstGeom prst="roundRect">
            <a:avLst>
              <a:gd name="adj" fmla="val 48000"/>
            </a:avLst>
          </a:prstGeom>
          <a:solidFill>
            <a:srgbClr val="0E4A5F"/>
          </a:solidFill>
          <a:ln w="12700">
            <a:solidFill>
              <a:srgbClr val="1D5A7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48640" y="4800600"/>
            <a:ext cx="10652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 lint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1842516" y="4800600"/>
            <a:ext cx="1847088" cy="457200"/>
          </a:xfrm>
          <a:prstGeom prst="roundRect">
            <a:avLst>
              <a:gd name="adj" fmla="val 48000"/>
            </a:avLst>
          </a:prstGeom>
          <a:solidFill>
            <a:srgbClr val="0E4A5F"/>
          </a:solidFill>
          <a:ln w="12700">
            <a:solidFill>
              <a:srgbClr val="1D5A72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842516" y="480060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856 specs vertes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3918204" y="4800600"/>
            <a:ext cx="2628900" cy="457200"/>
          </a:xfrm>
          <a:prstGeom prst="roundRect">
            <a:avLst>
              <a:gd name="adj" fmla="val 48000"/>
            </a:avLst>
          </a:prstGeom>
          <a:solidFill>
            <a:srgbClr val="0E4A5F"/>
          </a:solidFill>
          <a:ln w="12700">
            <a:solidFill>
              <a:srgbClr val="1D5A7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918204" y="4800600"/>
            <a:ext cx="2628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+ rapport de taille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775704" y="4800600"/>
            <a:ext cx="2455164" cy="457200"/>
          </a:xfrm>
          <a:prstGeom prst="roundRect">
            <a:avLst>
              <a:gd name="adj" fmla="val 48000"/>
            </a:avLst>
          </a:prstGeom>
          <a:solidFill>
            <a:srgbClr val="0E4A5F"/>
          </a:solidFill>
          <a:ln w="12700">
            <a:solidFill>
              <a:srgbClr val="1D5A72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775704" y="480060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checklist samples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548640" y="5897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complet et suivi par phase : </a:t>
            </a:r>
            <a:pPr indent="0" marL="0">
              <a:buNone/>
            </a:pPr>
            <a:r>
              <a:rPr lang="en-US" sz="1150" b="1" dirty="0">
                <a:solidFill>
                  <a:srgbClr val="AF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docs/refactoring/PLAN-PERF-2026.md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Roadmap refactoring performance — Amalia core (Angular 21 / PrimeNG 21)</dc:title>
  <dc:subject>PptxGenJS Presentation</dc:subject>
  <dc:creator>Amalia core</dc:creator>
  <cp:lastModifiedBy>Amalia core</cp:lastModifiedBy>
  <cp:revision>1</cp:revision>
  <dcterms:created xsi:type="dcterms:W3CDTF">2026-07-23T00:24:01Z</dcterms:created>
  <dcterms:modified xsi:type="dcterms:W3CDTF">2026-07-23T00:24:01Z</dcterms:modified>
</cp:coreProperties>
</file>