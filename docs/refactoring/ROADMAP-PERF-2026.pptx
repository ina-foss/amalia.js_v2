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main.js (Mo)</c:v>
                </c:pt>
              </c:strCache>
            </c:strRef>
          </c:tx>
          <c:spPr>
            <a:solidFill>
              <a:srgbClr val="8FA8B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30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8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A8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6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5A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Ph. 2 · esbuild</c:v>
                  </c:pt>
                  <c:pt idx="2">
                    <c:v>Ph. 3 · styles</c:v>
                  </c:pt>
                  <c:pt idx="3">
                    <c:v>Ph. 4-8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5.93</c:v>
                </c:pt>
                <c:pt idx="1">
                  <c:v>5.85</c:v>
                </c:pt>
                <c:pt idx="2">
                  <c:v>3.53</c:v>
                </c:pt>
                <c:pt idx="3">
                  <c:v>3.46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1330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A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6350" cap="flat">
              <a:solidFill>
                <a:srgbClr val="E3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A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390388"/>
            <a:ext cx="118872" cy="964692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3" name="Shape 1"/>
          <p:cNvSpPr/>
          <p:nvPr/>
        </p:nvSpPr>
        <p:spPr>
          <a:xfrm>
            <a:off x="7221220" y="4864608"/>
            <a:ext cx="118872" cy="1490472"/>
          </a:xfrm>
          <a:prstGeom prst="roundRect">
            <a:avLst>
              <a:gd name="adj" fmla="val 46154"/>
            </a:avLst>
          </a:prstGeom>
          <a:solidFill>
            <a:srgbClr val="1187B0"/>
          </a:solidFill>
          <a:ln/>
        </p:spPr>
      </p:sp>
      <p:sp>
        <p:nvSpPr>
          <p:cNvPr id="4" name="Shape 2"/>
          <p:cNvSpPr/>
          <p:nvPr/>
        </p:nvSpPr>
        <p:spPr>
          <a:xfrm>
            <a:off x="7493000" y="4233672"/>
            <a:ext cx="118872" cy="2121408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5" name="Shape 3"/>
          <p:cNvSpPr/>
          <p:nvPr/>
        </p:nvSpPr>
        <p:spPr>
          <a:xfrm>
            <a:off x="7764780" y="5074920"/>
            <a:ext cx="118872" cy="1280160"/>
          </a:xfrm>
          <a:prstGeom prst="roundRect">
            <a:avLst>
              <a:gd name="adj" fmla="val 46154"/>
            </a:avLst>
          </a:prstGeom>
          <a:solidFill>
            <a:srgbClr val="DCEAF0"/>
          </a:solidFill>
          <a:ln/>
        </p:spPr>
      </p:sp>
      <p:sp>
        <p:nvSpPr>
          <p:cNvPr id="6" name="Shape 4"/>
          <p:cNvSpPr/>
          <p:nvPr/>
        </p:nvSpPr>
        <p:spPr>
          <a:xfrm>
            <a:off x="8036560" y="4549140"/>
            <a:ext cx="118872" cy="1805940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7" name="Shape 5"/>
          <p:cNvSpPr/>
          <p:nvPr/>
        </p:nvSpPr>
        <p:spPr>
          <a:xfrm>
            <a:off x="8308340" y="4023360"/>
            <a:ext cx="118872" cy="2331720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8" name="Shape 6"/>
          <p:cNvSpPr/>
          <p:nvPr/>
        </p:nvSpPr>
        <p:spPr>
          <a:xfrm>
            <a:off x="8580120" y="4822546"/>
            <a:ext cx="118872" cy="1532534"/>
          </a:xfrm>
          <a:prstGeom prst="roundRect">
            <a:avLst>
              <a:gd name="adj" fmla="val 46154"/>
            </a:avLst>
          </a:prstGeom>
          <a:solidFill>
            <a:srgbClr val="E8A13D"/>
          </a:solidFill>
          <a:ln/>
        </p:spPr>
      </p:sp>
      <p:sp>
        <p:nvSpPr>
          <p:cNvPr id="9" name="Shape 7"/>
          <p:cNvSpPr/>
          <p:nvPr/>
        </p:nvSpPr>
        <p:spPr>
          <a:xfrm>
            <a:off x="8851900" y="5285232"/>
            <a:ext cx="118872" cy="1069848"/>
          </a:xfrm>
          <a:prstGeom prst="roundRect">
            <a:avLst>
              <a:gd name="adj" fmla="val 46154"/>
            </a:avLst>
          </a:prstGeom>
          <a:solidFill>
            <a:srgbClr val="1187B0"/>
          </a:solidFill>
          <a:ln/>
        </p:spPr>
      </p:sp>
      <p:sp>
        <p:nvSpPr>
          <p:cNvPr id="10" name="Shape 8"/>
          <p:cNvSpPr/>
          <p:nvPr/>
        </p:nvSpPr>
        <p:spPr>
          <a:xfrm>
            <a:off x="9123680" y="4401922"/>
            <a:ext cx="118872" cy="1953158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11" name="Shape 9"/>
          <p:cNvSpPr/>
          <p:nvPr/>
        </p:nvSpPr>
        <p:spPr>
          <a:xfrm>
            <a:off x="9395460" y="4969764"/>
            <a:ext cx="118872" cy="1385316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12" name="Shape 10"/>
          <p:cNvSpPr/>
          <p:nvPr/>
        </p:nvSpPr>
        <p:spPr>
          <a:xfrm>
            <a:off x="9667240" y="4128516"/>
            <a:ext cx="118872" cy="2226564"/>
          </a:xfrm>
          <a:prstGeom prst="roundRect">
            <a:avLst>
              <a:gd name="adj" fmla="val 46154"/>
            </a:avLst>
          </a:prstGeom>
          <a:solidFill>
            <a:srgbClr val="DCEAF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39020" y="4654296"/>
            <a:ext cx="118872" cy="1700784"/>
          </a:xfrm>
          <a:prstGeom prst="roundRect">
            <a:avLst>
              <a:gd name="adj" fmla="val 46154"/>
            </a:avLst>
          </a:prstGeom>
          <a:solidFill>
            <a:srgbClr val="1187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10800" y="5180076"/>
            <a:ext cx="118872" cy="1175004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82580" y="4338828"/>
            <a:ext cx="118872" cy="2016252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54360" y="4864608"/>
            <a:ext cx="118872" cy="1490472"/>
          </a:xfrm>
          <a:prstGeom prst="roundRect">
            <a:avLst>
              <a:gd name="adj" fmla="val 46154"/>
            </a:avLst>
          </a:prstGeom>
          <a:solidFill>
            <a:srgbClr val="1187B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26140" y="5495544"/>
            <a:ext cx="118872" cy="859536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97920" y="4612234"/>
            <a:ext cx="118872" cy="1742846"/>
          </a:xfrm>
          <a:prstGeom prst="roundRect">
            <a:avLst>
              <a:gd name="adj" fmla="val 46154"/>
            </a:avLst>
          </a:prstGeom>
          <a:solidFill>
            <a:srgbClr val="DCEA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69700" y="5074920"/>
            <a:ext cx="118872" cy="1280160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 · AMALIA CORE — PLAYER MULTIMÉDIA HTML5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23317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Refactoring performance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post-migration Angular 21 · PrimeNG 21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</a:t>
            </a:r>
            <a:pPr indent="0" marL="0">
              <a:buNone/>
            </a:pPr>
            <a:r>
              <a:rPr lang="en-US" sz="1150" b="1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refactor/perf-v21</a:t>
            </a:r>
            <a:pPr indent="0" marL="0">
              <a:buNone/>
            </a:pPr>
            <a:r>
              <a:rPr lang="en-US" sz="1150" dirty="0">
                <a:solidFill>
                  <a:srgbClr val="8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Plan détaillé : </a:t>
            </a:r>
            <a:pPr indent="0" marL="0">
              <a:buNone/>
            </a:pPr>
            <a:r>
              <a:rPr lang="en-US" sz="1150" b="1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docs/refactoring/PLAN-PERF-2026.md</a:t>
            </a:r>
            <a:pPr indent="0" marL="0">
              <a:buNone/>
            </a:pPr>
            <a:r>
              <a:rPr lang="en-US" sz="1150" dirty="0">
                <a:solidFill>
                  <a:srgbClr val="8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Juillet – Août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constat après migration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montée de version 18 → 21 est fonctionnelle ; aucun levier de performance d'Angular 21 n'est encore exploité.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" cy="2743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76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5,9 Mo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unique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Webpack legacy, zéro code-splitting, lodash entier importé dans 8 fichiers.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2424" y="17830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783080"/>
            <a:ext cx="64008" cy="2743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2057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76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21024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21024" y="32735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ré-entrées de zone et vérifications complètes de l'arbre par événement timeupdate.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17830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783080"/>
            <a:ext cx="64008" cy="2743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2057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76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/ 13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464808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OnPush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32735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Default partout, compensée par ~29 detectChanges() manuels.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79992" y="17830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9992" y="1783080"/>
            <a:ext cx="64008" cy="2743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057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76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×5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308592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dupliqué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08592" y="32735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theme.css legacy (244 Ko) + primeflex + primeicons : 1 copie globale + 4 copies dans main.js, ≈ 1,4 Mo.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91672" cy="868680"/>
          </a:xfrm>
          <a:prstGeom prst="rect">
            <a:avLst/>
          </a:prstGeom>
          <a:solidFill>
            <a:srgbClr val="DCEAF0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12080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17320" y="4983480"/>
            <a:ext cx="9948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côté rendu : </a:t>
            </a:r>
            <a:pPr indent="0" marL="0">
              <a:buNone/>
            </a:pPr>
            <a:r>
              <a:rPr lang="en-US" sz="1250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transcription crée un &lt;div&gt; par mot, sans virtualisation — des milliers de nœuds re-vérifiés à chaque cycle de change detection.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ARBITRAGES VALIDÉS LE 22 JUILLET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décisions actées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83864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713232" cy="71323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fichier unique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84448"/>
            <a:ext cx="2889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amalia-&lt;version&gt;.min.js conservé pour tous les intégrateurs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dans le build : échec si un chunk apparaît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toujours possible plus tard (sortie ESM native)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2544" y="1554480"/>
            <a:ext cx="3483864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874520"/>
            <a:ext cx="713232" cy="71323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0574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78892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Zoneless,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jusqu'au bout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72584" y="3584448"/>
            <a:ext cx="2889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zone.js en phase finale (9)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durs : audit des 118 setTimeout, 100 % des composants OnPush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« zoneful » de secours pendant 1 release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6448" y="1554480"/>
            <a:ext cx="3483864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6488" y="1874520"/>
            <a:ext cx="713232" cy="71323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0574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6488" y="278892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primeicons →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sprite SVG maison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76488" y="3584448"/>
            <a:ext cx="2889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usages pi pi-* migrés vers le sprite existant (~80 icônes)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les glyphes déjà cassés en shadow DOM (@font-face ignoré)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−633 Ko de polices dans le dist, −120 Ko de CSS dupliqué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— RUNTIME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store de signals alimenté hors zone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d'événements du player devient un modèle de lecture réactif ; l'API publique ne change 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20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1600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6771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&lt;video&gt; · &lt;audio&gt;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76148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timeupdate natif (~4 Hz), seek, volume, vitesse…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50592" y="264718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920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2103120"/>
            <a:ext cx="64008" cy="1600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226771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EventEmitter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99232" y="276148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 — API événementielle host inchangée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592" y="264718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2103120"/>
            <a:ext cx="1920240" cy="1600200"/>
          </a:xfrm>
          <a:prstGeom prst="rect">
            <a:avLst/>
          </a:prstGeom>
          <a:solidFill>
            <a:srgbClr val="085A75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85232" y="226771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PlaybackState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85232" y="276148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écrits hors zone : currentTime, playing, duration…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22592" y="264718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1920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2103120"/>
            <a:ext cx="64008" cy="1600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226771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Composants OnPush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71232" y="276148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computeds : time-bar, control-bar, subtitles, timeline…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08592" y="264718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103120"/>
            <a:ext cx="1920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92640" y="2103120"/>
            <a:ext cx="64008" cy="160020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26" name="Text 24"/>
          <p:cNvSpPr/>
          <p:nvPr/>
        </p:nvSpPr>
        <p:spPr>
          <a:xfrm>
            <a:off x="9857232" y="226771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tick coalescé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57232" y="276148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hybride — seules les vues touchées sont re-rendues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91672" cy="1371600"/>
          </a:xfrm>
          <a:prstGeom prst="rect">
            <a:avLst/>
          </a:prstGeom>
          <a:solidFill>
            <a:srgbClr val="DCEAF0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0056"/>
            <a:ext cx="384048" cy="38404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17320" y="4526280"/>
            <a:ext cx="9902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Angular 18 (stable en 21), une écriture de signal hors zone programme un tick coalescé — en mode zone comme en zoneless.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composants migrent un par un vers playback.currentTime() ; le passage zoneless final se réduit à un échange de provider, sans big bang.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phases, 3 chantiers — chaque phase livrable seule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7047" y="1874520"/>
            <a:ext cx="4764855" cy="475488"/>
          </a:xfrm>
          <a:prstGeom prst="roundRect">
            <a:avLst>
              <a:gd name="adj" fmla="val 17308"/>
            </a:avLst>
          </a:prstGeom>
          <a:solidFill>
            <a:srgbClr val="0B7698"/>
          </a:solidFill>
          <a:ln/>
        </p:spPr>
      </p:sp>
      <p:sp>
        <p:nvSpPr>
          <p:cNvPr id="5" name="Text 3"/>
          <p:cNvSpPr/>
          <p:nvPr/>
        </p:nvSpPr>
        <p:spPr>
          <a:xfrm>
            <a:off x="687047" y="1874520"/>
            <a:ext cx="4764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Fondations build &amp; styles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28716" y="1874520"/>
            <a:ext cx="3756521" cy="475488"/>
          </a:xfrm>
          <a:prstGeom prst="roundRect">
            <a:avLst>
              <a:gd name="adj" fmla="val 17308"/>
            </a:avLst>
          </a:prstGeom>
          <a:solidFill>
            <a:srgbClr val="1187B0"/>
          </a:solidFill>
          <a:ln/>
        </p:spPr>
      </p:sp>
      <p:sp>
        <p:nvSpPr>
          <p:cNvPr id="7" name="Text 5"/>
          <p:cNvSpPr/>
          <p:nvPr/>
        </p:nvSpPr>
        <p:spPr>
          <a:xfrm>
            <a:off x="5728716" y="1874520"/>
            <a:ext cx="37565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· Architecture runtime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597459" y="1874520"/>
            <a:ext cx="2069038" cy="475488"/>
          </a:xfrm>
          <a:prstGeom prst="roundRect">
            <a:avLst>
              <a:gd name="adj" fmla="val 17308"/>
            </a:avLst>
          </a:prstGeom>
          <a:solidFill>
            <a:srgbClr val="E8A13D"/>
          </a:solidFill>
          <a:ln/>
        </p:spPr>
      </p:sp>
      <p:sp>
        <p:nvSpPr>
          <p:cNvPr id="9" name="Text 7"/>
          <p:cNvSpPr/>
          <p:nvPr/>
        </p:nvSpPr>
        <p:spPr>
          <a:xfrm>
            <a:off x="9597459" y="1874520"/>
            <a:ext cx="20690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2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· Zoneless &amp; clôture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2807" y="3291840"/>
            <a:ext cx="10083338" cy="0"/>
          </a:xfrm>
          <a:prstGeom prst="line">
            <a:avLst/>
          </a:prstGeom>
          <a:noFill/>
          <a:ln w="31750">
            <a:solidFill>
              <a:srgbClr val="1D5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9051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6775" y="3035808"/>
            <a:ext cx="512064" cy="512064"/>
          </a:xfrm>
          <a:prstGeom prst="ellipse">
            <a:avLst/>
          </a:prstGeom>
          <a:solidFill>
            <a:srgbClr val="0B7698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775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27385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05109" y="3035808"/>
            <a:ext cx="512064" cy="512064"/>
          </a:xfrm>
          <a:prstGeom prst="ellipse">
            <a:avLst/>
          </a:prstGeom>
          <a:solidFill>
            <a:srgbClr val="0B7698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5109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38686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35719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13443" y="3035808"/>
            <a:ext cx="512064" cy="512064"/>
          </a:xfrm>
          <a:prstGeom prst="ellipse">
            <a:avLst/>
          </a:prstGeom>
          <a:solidFill>
            <a:srgbClr val="0B7698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3443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47020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esbuild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4052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21776" y="3035808"/>
            <a:ext cx="512064" cy="512064"/>
          </a:xfrm>
          <a:prstGeom prst="ellipse">
            <a:avLst/>
          </a:prstGeom>
          <a:solidFill>
            <a:srgbClr val="0B7698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1776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55353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2386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30110" y="3035808"/>
            <a:ext cx="512064" cy="512064"/>
          </a:xfrm>
          <a:prstGeom prst="ellipse">
            <a:avLst/>
          </a:prstGeom>
          <a:solidFill>
            <a:srgbClr val="0B7698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011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63687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tsconfig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9010" name="RingStatus10"/>
          <p:cNvSpPr/>
          <p:nvPr/>
        </p:nvSpPr>
        <p:spPr>
          <a:xfrm>
            <a:off x="10802391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38444" y="3035808"/>
            <a:ext cx="512064" cy="512064"/>
          </a:xfrm>
          <a:prstGeom prst="ellipse">
            <a:avLst/>
          </a:prstGeom>
          <a:solidFill>
            <a:srgbClr val="1187B0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8444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72021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9054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778" y="3035808"/>
            <a:ext cx="512064" cy="512064"/>
          </a:xfrm>
          <a:prstGeom prst="ellipse">
            <a:avLst/>
          </a:prstGeom>
          <a:solidFill>
            <a:srgbClr val="1187B0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77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80355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PlaybackState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77388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55112" y="3035808"/>
            <a:ext cx="512064" cy="512064"/>
          </a:xfrm>
          <a:prstGeom prst="ellipse">
            <a:avLst/>
          </a:prstGeom>
          <a:solidFill>
            <a:srgbClr val="1187B0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55112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588689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 vagues</a:t>
            </a:r>
            <a:endParaRPr lang="en-US" sz="950" dirty="0"/>
          </a:p>
        </p:txBody>
      </p:sp>
      <p:sp>
        <p:nvSpPr>
          <p:cNvPr id="9008" name="RingStatus8"/>
          <p:cNvSpPr/>
          <p:nvPr/>
        </p:nvSpPr>
        <p:spPr>
          <a:xfrm>
            <a:off x="8785723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3E9B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3445" y="3035808"/>
            <a:ext cx="512064" cy="512064"/>
          </a:xfrm>
          <a:prstGeom prst="ellipse">
            <a:avLst/>
          </a:prstGeom>
          <a:solidFill>
            <a:srgbClr val="1187B0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3445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597023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Hors-zone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@defer</a:t>
            </a:r>
            <a:endParaRPr lang="en-US" sz="950" dirty="0"/>
          </a:p>
        </p:txBody>
      </p:sp>
      <p:sp>
        <p:nvSpPr>
          <p:cNvPr id="9009" name="RingStatus9"/>
          <p:cNvSpPr/>
          <p:nvPr/>
        </p:nvSpPr>
        <p:spPr>
          <a:xfrm>
            <a:off x="9794057" y="2958084"/>
            <a:ext cx="667512" cy="667512"/>
          </a:xfrm>
          <a:prstGeom prst="ellipse">
            <a:avLst/>
          </a:prstGeom>
          <a:solidFill>
            <a:srgbClr val="0A2E3B"/>
          </a:solidFill>
          <a:ln w="349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1779" y="3035808"/>
            <a:ext cx="512064" cy="512064"/>
          </a:xfrm>
          <a:prstGeom prst="ellipse">
            <a:avLst/>
          </a:prstGeom>
          <a:solidFill>
            <a:srgbClr val="E8A13D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1779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605356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Zoneless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880113" y="3035808"/>
            <a:ext cx="512064" cy="512064"/>
          </a:xfrm>
          <a:prstGeom prst="ellipse">
            <a:avLst/>
          </a:prstGeom>
          <a:solidFill>
            <a:srgbClr val="E8A13D"/>
          </a:solidFill>
          <a:ln w="25400">
            <a:solidFill>
              <a:srgbClr val="0A2E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80113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613690" y="3730752"/>
            <a:ext cx="1044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4846320"/>
            <a:ext cx="219456" cy="219456"/>
          </a:xfrm>
          <a:prstGeom prst="ellipse">
            <a:avLst/>
          </a:prstGeom>
          <a:solidFill>
            <a:srgbClr val="0A2E3B"/>
          </a:solidFill>
          <a:ln w="28575">
            <a:solidFill>
              <a:srgbClr val="3E9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7824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627632" y="4846320"/>
            <a:ext cx="219456" cy="219456"/>
          </a:xfrm>
          <a:prstGeom prst="ellipse">
            <a:avLst/>
          </a:prstGeom>
          <a:solidFill>
            <a:srgbClr val="0A2E3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38528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8640" y="5486400"/>
            <a:ext cx="11091672" cy="713232"/>
          </a:xfrm>
          <a:prstGeom prst="rect">
            <a:avLst/>
          </a:prstGeom>
          <a:solidFill>
            <a:srgbClr val="0E4A5F"/>
          </a:solidFill>
          <a:ln/>
        </p:spPr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0"/>
            <a:ext cx="329184" cy="329184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1325880" y="5486400"/>
            <a:ext cx="10040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systématiques à chaque phase :  </a:t>
            </a:r>
            <a:pPr indent="0" marL="0"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lint  ·  887 specs  ·  build production  ·  rapport de taille  ·  smoke checklist sur les samples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A — PHASES 0 → 4 · LIVRÉ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Fondations : build, styles, bundle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635240" cy="8759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9870"/>
            <a:ext cx="438912" cy="438912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9987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1591056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&amp; plan persisté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9888" y="1911096"/>
            <a:ext cx="6227064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docs/refactoring/ (plan, checklists, audit), script size-report — 14,7 Mo de dist mesurés.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680960" y="1791310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1252" y="1841602"/>
            <a:ext cx="155448" cy="1554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485339"/>
            <a:ext cx="7635240" cy="8759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703881"/>
            <a:ext cx="438912" cy="438912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70388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89888" y="2595067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389888" y="2915107"/>
            <a:ext cx="6227064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Coalescing de zone (1 CD/frame), hygiène package.json, mémoïsation des templates chauds, retrait de @angular/animations.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680960" y="2795321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252" y="2845613"/>
            <a:ext cx="155448" cy="1554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3489350"/>
            <a:ext cx="7635240" cy="8759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3707892"/>
            <a:ext cx="438912" cy="438912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37078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389888" y="3599078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 esbuild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389888" y="3919118"/>
            <a:ext cx="6227064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@angular/build:application + karma moderne ; le concat devient copie + garde-fou anti-chunk ; EventEmitter interne (builtin Node banni).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7680960" y="3799332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252" y="3849624"/>
            <a:ext cx="155448" cy="15544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48640" y="4493362"/>
            <a:ext cx="7635240" cy="8759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9808" y="4711903"/>
            <a:ext cx="438912" cy="438912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27" name="Text 22"/>
          <p:cNvSpPr/>
          <p:nvPr/>
        </p:nvSpPr>
        <p:spPr>
          <a:xfrm>
            <a:off x="749808" y="471190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389888" y="4603090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Déduplication des styles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1389888" y="4923130"/>
            <a:ext cx="6227064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Miroir des styles PrimeNG vers les shadow roots, suppression du theme.css legacy (244 Ko ×5), de primeflex et de primeicons.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7680960" y="4803343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4853635"/>
            <a:ext cx="155448" cy="15544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8640" y="5497373"/>
            <a:ext cx="7635240" cy="8759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49808" y="5715914"/>
            <a:ext cx="438912" cy="438912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34" name="Text 28"/>
          <p:cNvSpPr/>
          <p:nvPr/>
        </p:nvSpPr>
        <p:spPr>
          <a:xfrm>
            <a:off x="749808" y="57159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1389888" y="5607101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Réductions JS &amp; tsconfig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1389888" y="5927141"/>
            <a:ext cx="6227064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lodash par méthode (8 fichiers), import type hls.js, isolatedModules + flags de rigueur ciblés.</a:t>
            </a:r>
            <a:endParaRPr lang="en-US" sz="1080" dirty="0"/>
          </a:p>
        </p:txBody>
      </p:sp>
      <p:sp>
        <p:nvSpPr>
          <p:cNvPr id="37" name="Shape 31"/>
          <p:cNvSpPr/>
          <p:nvPr/>
        </p:nvSpPr>
        <p:spPr>
          <a:xfrm>
            <a:off x="7680960" y="5807354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252" y="5857646"/>
            <a:ext cx="155448" cy="15544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503920" y="1481328"/>
            <a:ext cx="3136392" cy="4892040"/>
          </a:xfrm>
          <a:prstGeom prst="rect">
            <a:avLst/>
          </a:prstGeom>
          <a:solidFill>
            <a:srgbClr val="0B7698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8778240" y="17556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MESURÉ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8778240" y="2048256"/>
            <a:ext cx="2587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−2,45 Mo</a:t>
            </a:r>
            <a:endParaRPr lang="en-US" sz="4000" dirty="0"/>
          </a:p>
        </p:txBody>
      </p:sp>
      <p:sp>
        <p:nvSpPr>
          <p:cNvPr id="42" name="Text 35"/>
          <p:cNvSpPr/>
          <p:nvPr/>
        </p:nvSpPr>
        <p:spPr>
          <a:xfrm>
            <a:off x="8778240" y="301752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main.js : 5,93 → 3,44 Mo (−41 %)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8778240" y="3694176"/>
            <a:ext cx="263347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 : 723 Ko → 18 octets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dans le dist : 1,49 Mo → 0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production : minutes → ~20 s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−396 paquets npm (toolchain Webpack)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B — PHASES 5 → 8 · LIVRÉ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runtime : signals &amp; OnPush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635240" cy="112699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25371"/>
            <a:ext cx="438912" cy="438912"/>
          </a:xfrm>
          <a:prstGeom prst="rect">
            <a:avLst/>
          </a:prstGeom>
          <a:solidFill>
            <a:srgbClr val="1187B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53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1591056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Standalone + createApplication()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9888" y="1911096"/>
            <a:ext cx="6227064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 en comportement ; supprime AppModule et HttpClientModule déprécié ; specs migrées declarations → imports.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680960" y="1916811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1252" y="1967103"/>
            <a:ext cx="155448" cy="1554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736342"/>
            <a:ext cx="7635240" cy="112699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3080385"/>
            <a:ext cx="438912" cy="438912"/>
          </a:xfrm>
          <a:prstGeom prst="rect">
            <a:avLst/>
          </a:prstGeom>
          <a:solidFill>
            <a:srgbClr val="1187B0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0803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89888" y="2846070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PlaybackState + politique de zone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389888" y="3166110"/>
            <a:ext cx="6227064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hors zone par MediaPlayerElement ; addListener rétro-compatible avec politiques 'zone' | 'schedule' | 'none'.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680960" y="3171825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252" y="3222117"/>
            <a:ext cx="155448" cy="1554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3991356"/>
            <a:ext cx="7635240" cy="112699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4335399"/>
            <a:ext cx="438912" cy="438912"/>
          </a:xfrm>
          <a:prstGeom prst="rect">
            <a:avLst/>
          </a:prstGeom>
          <a:solidFill>
            <a:srgbClr val="1187B0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433539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389888" y="4101084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OnPush par vagues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389888" y="4421124"/>
            <a:ext cx="6227064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composant = 1 PR. Vague 1 : toast, messages, subtitles, time-bar · Vague 2 : storyboard, histogram, transcription, timeline · Vague 3 : player, control-bar, annotation.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7680960" y="4426839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4481703"/>
            <a:ext cx="146304" cy="14630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48640" y="5246370"/>
            <a:ext cx="7635240" cy="112699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9808" y="5590413"/>
            <a:ext cx="438912" cy="438912"/>
          </a:xfrm>
          <a:prstGeom prst="rect">
            <a:avLst/>
          </a:prstGeom>
          <a:solidFill>
            <a:srgbClr val="1187B0"/>
          </a:solidFill>
          <a:ln/>
        </p:spPr>
      </p:sp>
      <p:sp>
        <p:nvSpPr>
          <p:cNvPr id="27" name="Text 22"/>
          <p:cNvSpPr/>
          <p:nvPr/>
        </p:nvSpPr>
        <p:spPr>
          <a:xfrm>
            <a:off x="749808" y="559041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389888" y="5356098"/>
            <a:ext cx="622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Hors-zone + @defer transcription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1389888" y="5676138"/>
            <a:ext cx="6227064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mousemove/scroll hors zone (rAF) ; rendu différé par segment avec placeholder isométrique ; triage des 118 setTimeout.</a:t>
            </a:r>
            <a:endParaRPr lang="en-US" sz="1080" dirty="0"/>
          </a:p>
        </p:txBody>
      </p:sp>
      <p:sp>
        <p:nvSpPr>
          <p:cNvPr id="9100" name="RingRow8"/>
          <p:cNvSpPr/>
          <p:nvPr/>
        </p:nvSpPr>
        <p:spPr>
          <a:xfrm>
            <a:off x="7680960" y="5681853"/>
            <a:ext cx="256032" cy="25603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9101" name="CheckRow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1252" y="5732145"/>
            <a:ext cx="155448" cy="15544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8503920" y="1481328"/>
            <a:ext cx="3136392" cy="4892040"/>
          </a:xfrm>
          <a:prstGeom prst="rect">
            <a:avLst/>
          </a:prstGeom>
          <a:solidFill>
            <a:srgbClr val="0B7698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8778240" y="17556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OBTENU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778240" y="2048256"/>
            <a:ext cx="2587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×7 → 1</a:t>
            </a:r>
            <a:endParaRPr lang="en-US" sz="4000" dirty="0"/>
          </a:p>
        </p:txBody>
      </p:sp>
      <p:sp>
        <p:nvSpPr>
          <p:cNvPr id="34" name="Text 29"/>
          <p:cNvSpPr/>
          <p:nvPr/>
        </p:nvSpPr>
        <p:spPr>
          <a:xfrm>
            <a:off x="8778240" y="301752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coalescé par timeupdate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778240" y="3694176"/>
            <a:ext cx="263347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vues OnPush touchées sont re-vérifiées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Survol du player au repos : zéro tick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3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Transcriptions longues : coût initial ≈ divisé par le nombre de segments hors écran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C — PHASES 9 →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Zoneless, puis clôture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806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438912" cy="438912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6276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Zoneless — préparée (ng serve -c zoneless)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89888" y="198424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provideZonelessChangeDetection(), retrait de zone.js (−35 Ko gzip, fin de l'interception des tâches), suppression de la branche 'zone' de PluginBase.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806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273552"/>
            <a:ext cx="438912" cy="438912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31638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Clôture — livrée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89888" y="35204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resserrés (4,2 / 4,5 Mo), CHANGELOG, vérification des docs d'intégration — le contrat mono-fichier reste inchangé.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5806440" cy="1417320"/>
          </a:xfrm>
          <a:prstGeom prst="rect">
            <a:avLst/>
          </a:prstGeom>
          <a:solidFill>
            <a:srgbClr val="DCEAF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14807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89888" y="478231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maîtrisé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commit à reverter, et une configuration de build « zoneful » conservée dans angular.json pendant une release complète.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1481328"/>
            <a:ext cx="4919472" cy="4572000"/>
          </a:xfrm>
          <a:prstGeom prst="rect">
            <a:avLst/>
          </a:prstGeom>
          <a:solidFill>
            <a:srgbClr val="0A2E3B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01368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89520" y="1773936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Gates durs avant le zoneless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7086600" y="2542032"/>
            <a:ext cx="219456" cy="219456"/>
          </a:xfrm>
          <a:prstGeom prst="ellipse">
            <a:avLst/>
          </a:prstGeom>
          <a:solidFill>
            <a:srgbClr val="0A2E3B"/>
          </a:solidFill>
          <a:ln w="25400">
            <a:solidFill>
              <a:srgbClr val="3E9B6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88936" y="2505456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des 118 setTimeout soldé (catégories « mutation d'état » et « attente de rendu »)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086600" y="3255264"/>
            <a:ext cx="219456" cy="219456"/>
          </a:xfrm>
          <a:prstGeom prst="ellipse">
            <a:avLst/>
          </a:prstGeom>
          <a:solidFill>
            <a:srgbClr val="0A2E3B"/>
          </a:solidFill>
          <a:ln w="25400">
            <a:solidFill>
              <a:srgbClr val="3E9B6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88936" y="3218688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 composants passés en OnPush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086600" y="3968496"/>
            <a:ext cx="219456" cy="219456"/>
          </a:xfrm>
          <a:prstGeom prst="ellipse">
            <a:avLst/>
          </a:prstGeom>
          <a:solidFill>
            <a:srgbClr val="0A2E3B"/>
          </a:solidFill>
          <a:ln w="25400">
            <a:solidFill>
              <a:srgbClr val="DCEA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88936" y="3931920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aucun listener en politique « zone »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086600" y="4681728"/>
            <a:ext cx="219456" cy="219456"/>
          </a:xfrm>
          <a:prstGeom prst="ellipse">
            <a:avLst/>
          </a:prstGeom>
          <a:solidFill>
            <a:srgbClr val="0A2E3B"/>
          </a:solidFill>
          <a:ln w="25400">
            <a:solidFill>
              <a:srgbClr val="DCEA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88936" y="4645152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→ 8 en production depuis ≥ 1 cycle de release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086600" y="5394960"/>
            <a:ext cx="219456" cy="219456"/>
          </a:xfrm>
          <a:prstGeom prst="ellipse">
            <a:avLst/>
          </a:prstGeom>
          <a:solidFill>
            <a:srgbClr val="0A2E3B"/>
          </a:solidFill>
          <a:ln w="25400">
            <a:solidFill>
              <a:srgbClr val="DCEA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88936" y="5358384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provideCheckNoChangesConfig({ exhaustive }) actif en dev pour traquer les notifications manquées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ça change, en chiffres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Tailles de main.js mesurées par phase (Mo, non compressé) — suivies par scripts/size-report.mjs à chaque livraison.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20840" cy="434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77240" y="1920240"/>
          <a:ext cx="62636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691640"/>
            <a:ext cx="40507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691640"/>
            <a:ext cx="64008" cy="100584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80136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85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×7 → 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845552" y="226771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detections par timeupdate (fait)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2804160"/>
            <a:ext cx="40507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89520" y="2804160"/>
            <a:ext cx="64008" cy="100584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13" name="Text 10"/>
          <p:cNvSpPr/>
          <p:nvPr/>
        </p:nvSpPr>
        <p:spPr>
          <a:xfrm>
            <a:off x="7845552" y="291388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85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723 Ko → 18 o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845552" y="338023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 global (fait)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3916680"/>
            <a:ext cx="40507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89520" y="3916680"/>
            <a:ext cx="64008" cy="100584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17" name="Text 14"/>
          <p:cNvSpPr/>
          <p:nvPr/>
        </p:nvSpPr>
        <p:spPr>
          <a:xfrm>
            <a:off x="7845552" y="402640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85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1,49 Mo → 0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845552" y="449275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dans le dist (fait)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89520" y="5029200"/>
            <a:ext cx="40507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89520" y="5029200"/>
            <a:ext cx="64008" cy="1005840"/>
          </a:xfrm>
          <a:prstGeom prst="rect">
            <a:avLst/>
          </a:prstGeom>
          <a:solidFill>
            <a:srgbClr val="0B7698"/>
          </a:solidFill>
          <a:ln/>
        </p:spPr>
      </p:sp>
      <p:sp>
        <p:nvSpPr>
          <p:cNvPr id="21" name="Text 18"/>
          <p:cNvSpPr/>
          <p:nvPr/>
        </p:nvSpPr>
        <p:spPr>
          <a:xfrm>
            <a:off x="7845552" y="513892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85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 → ~20 s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7845552" y="560527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production (fait, Webpack → esbuild)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B7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RISQUE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Risques identifiés, garde-fous prévus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26948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Coalescing : latence d'une frame perçue sur drag et menus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1975104"/>
            <a:ext cx="0" cy="457200"/>
          </a:xfrm>
          <a:prstGeom prst="line">
            <a:avLst/>
          </a:prstGeom>
          <a:noFill/>
          <a:ln w="12700">
            <a:solidFill>
              <a:srgbClr val="DCE7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0848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82880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d'une seule ligne — revert immédiat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688336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1693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688336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du theme.css : régressions visuelles dans les zones PrimeNG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720840" y="2834640"/>
            <a:ext cx="0" cy="457200"/>
          </a:xfrm>
          <a:prstGeom prst="line">
            <a:avLst/>
          </a:prstGeom>
          <a:noFill/>
          <a:ln w="12700">
            <a:solidFill>
              <a:srgbClr val="DCE7E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9443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268833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Miroir shadow DOM posé avant la suppression ; commits séparés ; checklist visuelle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3547872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7647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354787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OnPush : vue figée si une notification de changement manque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720840" y="3694176"/>
            <a:ext cx="0" cy="457200"/>
          </a:xfrm>
          <a:prstGeom prst="line">
            <a:avLst/>
          </a:prstGeom>
          <a:noFill/>
          <a:ln w="12700">
            <a:solidFill>
              <a:srgbClr val="DCE7EB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3803904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354787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composant par PR ; checkNoChanges exhaustif en dev ; revert par composant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548640" y="4407408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636008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417320" y="440740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@defer transcription : recherche sur des blocs non hydratés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720840" y="4553712"/>
            <a:ext cx="0" cy="457200"/>
          </a:xfrm>
          <a:prstGeom prst="line">
            <a:avLst/>
          </a:prstGeom>
          <a:noFill/>
          <a:ln w="12700">
            <a:solidFill>
              <a:srgbClr val="DCE7EB"/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6288" y="4663440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69480" y="440740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forceRenderAll ; placeholder isométrique ; feature-flag dans la config du plugin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548640" y="5266944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A2E3B">
                <a:alpha val="14000"/>
              </a:srgbClr>
            </a:outerShdw>
          </a:effectLst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495544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417320" y="526694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Zoneless : un setTimeout mutateur oublié fige le rendu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720840" y="5413248"/>
            <a:ext cx="0" cy="457200"/>
          </a:xfrm>
          <a:prstGeom prst="line">
            <a:avLst/>
          </a:prstGeom>
          <a:noFill/>
          <a:ln w="12700">
            <a:solidFill>
              <a:srgbClr val="DCE7EB"/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6288" y="5522976"/>
            <a:ext cx="237744" cy="23774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269480" y="526694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exhaustif en gate ; configuration « zoneful » de secours pendant 1 release</a:t>
            </a:r>
            <a:endParaRPr lang="en-US" sz="1100" dirty="0"/>
          </a:p>
        </p:txBody>
      </p:sp>
      <p:sp>
        <p:nvSpPr>
          <p:cNvPr id="36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5692140"/>
            <a:ext cx="118872" cy="708660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3" name="Shape 1"/>
          <p:cNvSpPr/>
          <p:nvPr/>
        </p:nvSpPr>
        <p:spPr>
          <a:xfrm>
            <a:off x="9652635" y="5404104"/>
            <a:ext cx="118872" cy="996696"/>
          </a:xfrm>
          <a:prstGeom prst="roundRect">
            <a:avLst>
              <a:gd name="adj" fmla="val 46154"/>
            </a:avLst>
          </a:prstGeom>
          <a:solidFill>
            <a:srgbClr val="1187B0"/>
          </a:solidFill>
          <a:ln/>
        </p:spPr>
      </p:sp>
      <p:sp>
        <p:nvSpPr>
          <p:cNvPr id="4" name="Shape 2"/>
          <p:cNvSpPr/>
          <p:nvPr/>
        </p:nvSpPr>
        <p:spPr>
          <a:xfrm>
            <a:off x="9841230" y="5788152"/>
            <a:ext cx="118872" cy="612648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5" name="Shape 3"/>
          <p:cNvSpPr/>
          <p:nvPr/>
        </p:nvSpPr>
        <p:spPr>
          <a:xfrm>
            <a:off x="10029825" y="5212080"/>
            <a:ext cx="118872" cy="1188720"/>
          </a:xfrm>
          <a:prstGeom prst="roundRect">
            <a:avLst>
              <a:gd name="adj" fmla="val 46154"/>
            </a:avLst>
          </a:prstGeom>
          <a:solidFill>
            <a:srgbClr val="DCEAF0"/>
          </a:solidFill>
          <a:ln/>
        </p:spPr>
      </p:sp>
      <p:sp>
        <p:nvSpPr>
          <p:cNvPr id="6" name="Shape 4"/>
          <p:cNvSpPr/>
          <p:nvPr/>
        </p:nvSpPr>
        <p:spPr>
          <a:xfrm>
            <a:off x="10218420" y="5548122"/>
            <a:ext cx="118872" cy="852678"/>
          </a:xfrm>
          <a:prstGeom prst="roundRect">
            <a:avLst>
              <a:gd name="adj" fmla="val 46154"/>
            </a:avLst>
          </a:prstGeom>
          <a:solidFill>
            <a:srgbClr val="0B7698"/>
          </a:solidFill>
          <a:ln/>
        </p:spPr>
      </p:sp>
      <p:sp>
        <p:nvSpPr>
          <p:cNvPr id="7" name="Shape 5"/>
          <p:cNvSpPr/>
          <p:nvPr/>
        </p:nvSpPr>
        <p:spPr>
          <a:xfrm>
            <a:off x="10407015" y="5836158"/>
            <a:ext cx="118872" cy="564642"/>
          </a:xfrm>
          <a:prstGeom prst="roundRect">
            <a:avLst>
              <a:gd name="adj" fmla="val 46154"/>
            </a:avLst>
          </a:prstGeom>
          <a:solidFill>
            <a:srgbClr val="156A87"/>
          </a:solidFill>
          <a:ln/>
        </p:spPr>
      </p:sp>
      <p:sp>
        <p:nvSpPr>
          <p:cNvPr id="8" name="Shape 6"/>
          <p:cNvSpPr/>
          <p:nvPr/>
        </p:nvSpPr>
        <p:spPr>
          <a:xfrm>
            <a:off x="10595610" y="5308092"/>
            <a:ext cx="118872" cy="1092708"/>
          </a:xfrm>
          <a:prstGeom prst="roundRect">
            <a:avLst>
              <a:gd name="adj" fmla="val 46154"/>
            </a:avLst>
          </a:prstGeom>
          <a:solidFill>
            <a:srgbClr val="E8A13D"/>
          </a:solidFill>
          <a:ln/>
        </p:spPr>
      </p:sp>
      <p:sp>
        <p:nvSpPr>
          <p:cNvPr id="9" name="Shape 7"/>
          <p:cNvSpPr/>
          <p:nvPr/>
        </p:nvSpPr>
        <p:spPr>
          <a:xfrm>
            <a:off x="10784205" y="5644134"/>
            <a:ext cx="118872" cy="756666"/>
          </a:xfrm>
          <a:prstGeom prst="roundRect">
            <a:avLst>
              <a:gd name="adj" fmla="val 46154"/>
            </a:avLst>
          </a:prstGeom>
          <a:solidFill>
            <a:srgbClr val="1187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exécution incrémentale et réversible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AU 10 AOÛT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057400"/>
            <a:ext cx="274320" cy="274320"/>
          </a:xfrm>
          <a:prstGeom prst="ellipse">
            <a:avLst/>
          </a:prstGeom>
          <a:solidFill>
            <a:srgbClr val="0A2E3B"/>
          </a:solidFill>
          <a:ln w="28575">
            <a:solidFill>
              <a:srgbClr val="3E9B6E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112264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19385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 → 8 + 10 livrées — esbuild, dédup styles, standalone, signals, 13/13 OnPush, @defer : main.js 5,93 → 3,46 Mo (−41 %)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2770632"/>
            <a:ext cx="274320" cy="274320"/>
          </a:xfrm>
          <a:prstGeom prst="ellipse">
            <a:avLst/>
          </a:prstGeom>
          <a:solidFill>
            <a:srgbClr val="0A2E3B"/>
          </a:solidFill>
          <a:ln w="28575">
            <a:solidFill>
              <a:srgbClr val="E8A13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2830068"/>
            <a:ext cx="155448" cy="1554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26517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zoneless : préparée (ng serve -c zoneless) — flip final après ≥ 1 cycle de release en prod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3504" y="3520440"/>
            <a:ext cx="201168" cy="201168"/>
          </a:xfrm>
          <a:prstGeom prst="ellipse">
            <a:avLst/>
          </a:prstGeom>
          <a:solidFill>
            <a:srgbClr val="0B7698"/>
          </a:solidFill>
          <a:ln/>
        </p:spPr>
      </p:sp>
      <p:sp>
        <p:nvSpPr>
          <p:cNvPr id="20" name="Text 16"/>
          <p:cNvSpPr/>
          <p:nvPr/>
        </p:nvSpPr>
        <p:spPr>
          <a:xfrm>
            <a:off x="1051560" y="33649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merge : smoke test visuel (SMOKE-CHECKLIST.md) sur les samples, puis merge vers develop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PASSE LES MÊMES GATES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4800600"/>
            <a:ext cx="1065276" cy="457200"/>
          </a:xfrm>
          <a:prstGeom prst="roundRect">
            <a:avLst>
              <a:gd name="adj" fmla="val 48000"/>
            </a:avLst>
          </a:prstGeom>
          <a:solidFill>
            <a:srgbClr val="0E4A5F"/>
          </a:solidFill>
          <a:ln w="12700">
            <a:solidFill>
              <a:srgbClr val="1D5A7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4800600"/>
            <a:ext cx="1065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lint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842516" y="4800600"/>
            <a:ext cx="1847088" cy="457200"/>
          </a:xfrm>
          <a:prstGeom prst="roundRect">
            <a:avLst>
              <a:gd name="adj" fmla="val 48000"/>
            </a:avLst>
          </a:prstGeom>
          <a:solidFill>
            <a:srgbClr val="0E4A5F"/>
          </a:solidFill>
          <a:ln w="12700">
            <a:solidFill>
              <a:srgbClr val="1D5A7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842516" y="48006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 specs vertes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918204" y="4800600"/>
            <a:ext cx="2628900" cy="457200"/>
          </a:xfrm>
          <a:prstGeom prst="roundRect">
            <a:avLst>
              <a:gd name="adj" fmla="val 48000"/>
            </a:avLst>
          </a:prstGeom>
          <a:solidFill>
            <a:srgbClr val="0E4A5F"/>
          </a:solidFill>
          <a:ln w="12700">
            <a:solidFill>
              <a:srgbClr val="1D5A7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918204" y="48006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rapport de taille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775704" y="4800600"/>
            <a:ext cx="2455164" cy="457200"/>
          </a:xfrm>
          <a:prstGeom prst="roundRect">
            <a:avLst>
              <a:gd name="adj" fmla="val 48000"/>
            </a:avLst>
          </a:prstGeom>
          <a:solidFill>
            <a:srgbClr val="0E4A5F"/>
          </a:solidFill>
          <a:ln w="12700">
            <a:solidFill>
              <a:srgbClr val="1D5A7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75704" y="480060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checklist samples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complet et suivi par phase : </a:t>
            </a:r>
            <a:pPr indent="0" marL="0">
              <a:buNone/>
            </a:pPr>
            <a:r>
              <a:rPr lang="en-US" sz="1150" b="1" dirty="0">
                <a:solidFill>
                  <a:srgbClr val="AF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docs/refactoring/PLAN-PERF-2026.md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core · Refactoring performance v21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refactoring performance — Amalia core (Angular 21 / PrimeNG 21)</dc:title>
  <dc:subject>PptxGenJS Presentation</dc:subject>
  <dc:creator>Amalia core</dc:creator>
  <cp:lastModifiedBy>Amalia core</cp:lastModifiedBy>
  <cp:revision>1</cp:revision>
  <dcterms:created xsi:type="dcterms:W3CDTF">2026-07-23T09:01:20Z</dcterms:created>
  <dcterms:modified xsi:type="dcterms:W3CDTF">2026-07-23T09:01:20Z</dcterms:modified>
</cp:coreProperties>
</file>