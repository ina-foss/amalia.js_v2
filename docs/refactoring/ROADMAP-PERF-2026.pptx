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main.js (Mo)</c:v>
                </c:pt>
              </c:strCache>
            </c:strRef>
          </c:tx>
          <c:spPr>
            <a:solidFill>
              <a:srgbClr val="8FA8B1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13303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FA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6FA8BC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769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85A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Baseline</c:v>
                  </c:pt>
                  <c:pt idx="1">
                    <c:v>Ph. 2 · esbuild</c:v>
                  </c:pt>
                  <c:pt idx="2">
                    <c:v>Ph. 3 · styles</c:v>
                  </c:pt>
                  <c:pt idx="3">
                    <c:v>Ph. 4-6 · JS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5.93</c:v>
                </c:pt>
                <c:pt idx="1">
                  <c:v>5.85</c:v>
                </c:pt>
                <c:pt idx="2">
                  <c:v>3.53</c:v>
                </c:pt>
                <c:pt idx="3">
                  <c:v>3.44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200" u="none">
                  <a:solidFill>
                    <a:srgbClr val="13303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7A85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</c:scaling>
        <c:delete val="0"/>
        <c:axPos val="l"/>
        <c:majorGridlines>
          <c:spPr>
            <a:ln w="6350" cap="flat">
              <a:solidFill>
                <a:srgbClr val="E3EB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E7A85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390388"/>
            <a:ext cx="118872" cy="964692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3" name="Shape 1"/>
          <p:cNvSpPr/>
          <p:nvPr/>
        </p:nvSpPr>
        <p:spPr>
          <a:xfrm>
            <a:off x="7221220" y="4864608"/>
            <a:ext cx="118872" cy="1490472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4" name="Shape 2"/>
          <p:cNvSpPr/>
          <p:nvPr/>
        </p:nvSpPr>
        <p:spPr>
          <a:xfrm>
            <a:off x="7493000" y="4233672"/>
            <a:ext cx="118872" cy="2121408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5" name="Shape 3"/>
          <p:cNvSpPr/>
          <p:nvPr/>
        </p:nvSpPr>
        <p:spPr>
          <a:xfrm>
            <a:off x="7764780" y="5074920"/>
            <a:ext cx="118872" cy="1280160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6" name="Shape 4"/>
          <p:cNvSpPr/>
          <p:nvPr/>
        </p:nvSpPr>
        <p:spPr>
          <a:xfrm>
            <a:off x="8036560" y="4549140"/>
            <a:ext cx="118872" cy="1805940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7" name="Shape 5"/>
          <p:cNvSpPr/>
          <p:nvPr/>
        </p:nvSpPr>
        <p:spPr>
          <a:xfrm>
            <a:off x="8308340" y="4023360"/>
            <a:ext cx="118872" cy="2331720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8" name="Shape 6"/>
          <p:cNvSpPr/>
          <p:nvPr/>
        </p:nvSpPr>
        <p:spPr>
          <a:xfrm>
            <a:off x="8580120" y="4822546"/>
            <a:ext cx="118872" cy="1532534"/>
          </a:xfrm>
          <a:prstGeom prst="roundRect">
            <a:avLst>
              <a:gd name="adj" fmla="val 46154"/>
            </a:avLst>
          </a:prstGeom>
          <a:solidFill>
            <a:srgbClr val="E8A13D"/>
          </a:solidFill>
          <a:ln/>
        </p:spPr>
      </p:sp>
      <p:sp>
        <p:nvSpPr>
          <p:cNvPr id="9" name="Shape 7"/>
          <p:cNvSpPr/>
          <p:nvPr/>
        </p:nvSpPr>
        <p:spPr>
          <a:xfrm>
            <a:off x="8851900" y="5285232"/>
            <a:ext cx="118872" cy="1069848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0" name="Shape 8"/>
          <p:cNvSpPr/>
          <p:nvPr/>
        </p:nvSpPr>
        <p:spPr>
          <a:xfrm>
            <a:off x="9123680" y="4401922"/>
            <a:ext cx="118872" cy="1953158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11" name="Shape 9"/>
          <p:cNvSpPr/>
          <p:nvPr/>
        </p:nvSpPr>
        <p:spPr>
          <a:xfrm>
            <a:off x="9395460" y="4969764"/>
            <a:ext cx="118872" cy="1385316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12" name="Shape 10"/>
          <p:cNvSpPr/>
          <p:nvPr/>
        </p:nvSpPr>
        <p:spPr>
          <a:xfrm>
            <a:off x="9667240" y="4128516"/>
            <a:ext cx="118872" cy="2226564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13" name="Shape 11"/>
          <p:cNvSpPr/>
          <p:nvPr/>
        </p:nvSpPr>
        <p:spPr>
          <a:xfrm>
            <a:off x="9939020" y="4654296"/>
            <a:ext cx="118872" cy="1700784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10800" y="5180076"/>
            <a:ext cx="118872" cy="1175004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82580" y="4338828"/>
            <a:ext cx="118872" cy="2016252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16" name="Shape 14"/>
          <p:cNvSpPr/>
          <p:nvPr/>
        </p:nvSpPr>
        <p:spPr>
          <a:xfrm>
            <a:off x="10754360" y="4864608"/>
            <a:ext cx="118872" cy="1490472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7" name="Shape 15"/>
          <p:cNvSpPr/>
          <p:nvPr/>
        </p:nvSpPr>
        <p:spPr>
          <a:xfrm>
            <a:off x="11026140" y="5495544"/>
            <a:ext cx="118872" cy="859536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18" name="Shape 16"/>
          <p:cNvSpPr/>
          <p:nvPr/>
        </p:nvSpPr>
        <p:spPr>
          <a:xfrm>
            <a:off x="11297920" y="4612234"/>
            <a:ext cx="118872" cy="1742846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19" name="Shape 17"/>
          <p:cNvSpPr/>
          <p:nvPr/>
        </p:nvSpPr>
        <p:spPr>
          <a:xfrm>
            <a:off x="11569700" y="5074920"/>
            <a:ext cx="118872" cy="1280160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20" name="Text 18"/>
          <p:cNvSpPr/>
          <p:nvPr/>
        </p:nvSpPr>
        <p:spPr>
          <a:xfrm>
            <a:off x="777240" y="1965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5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 · AMALIA CORE — PLAYER MULTIMÉDIA HTML5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2331720"/>
            <a:ext cx="10515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Refactoring performance</a:t>
            </a:r>
            <a:endParaRPr lang="en-US" sz="4400" dirty="0"/>
          </a:p>
        </p:txBody>
      </p:sp>
      <p:sp>
        <p:nvSpPr>
          <p:cNvPr id="22" name="Text 20"/>
          <p:cNvSpPr/>
          <p:nvPr/>
        </p:nvSpPr>
        <p:spPr>
          <a:xfrm>
            <a:off x="777240" y="326440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post-migration Angular 21 · PrimeNG 21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7772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Branche </a:t>
            </a:r>
            <a:pPr indent="0" marL="0">
              <a:buNone/>
            </a:pPr>
            <a:r>
              <a:rPr lang="en-US" sz="1150" b="1" dirty="0">
                <a:solidFill>
                  <a:srgbClr val="CFE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refactor/perf-v21</a:t>
            </a:r>
            <a:pPr indent="0" marL="0">
              <a:buNone/>
            </a:pPr>
            <a:r>
              <a:rPr lang="en-US" sz="1150" dirty="0">
                <a:solidFill>
                  <a:srgbClr val="8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Plan détaillé : </a:t>
            </a:r>
            <a:pPr indent="0" marL="0">
              <a:buNone/>
            </a:pPr>
            <a:r>
              <a:rPr lang="en-US" sz="1150" b="1" dirty="0">
                <a:solidFill>
                  <a:srgbClr val="CFE4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docs/refactoring/PLAN-PERF-2026.md</a:t>
            </a:r>
            <a:pPr indent="0" marL="0">
              <a:buNone/>
            </a:pPr>
            <a:r>
              <a:rPr lang="en-US" sz="1150" dirty="0">
                <a:solidFill>
                  <a:srgbClr val="8FC2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Juillet 2026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DES LIEUX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constat après migration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montée de version 18 → 21 est fonctionnelle ; aucun levier de performance d'Angular 21 n'est encore exploité.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5,9 Mo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777240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 unique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 Webpack legacy, zéro code-splitting, lodash entier importé dans 8 fichiers.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92424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392424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2" name="Text 10"/>
          <p:cNvSpPr/>
          <p:nvPr/>
        </p:nvSpPr>
        <p:spPr>
          <a:xfrm>
            <a:off x="3621024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×7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3621024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621024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ré-entrées de zone et vérifications complètes de l'arbre par événement timeupdate.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236208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36208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7" name="Text 15"/>
          <p:cNvSpPr/>
          <p:nvPr/>
        </p:nvSpPr>
        <p:spPr>
          <a:xfrm>
            <a:off x="6464808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 / 13</a:t>
            </a:r>
            <a:endParaRPr lang="en-US" sz="3800" dirty="0"/>
          </a:p>
        </p:txBody>
      </p:sp>
      <p:sp>
        <p:nvSpPr>
          <p:cNvPr id="18" name="Text 16"/>
          <p:cNvSpPr/>
          <p:nvPr/>
        </p:nvSpPr>
        <p:spPr>
          <a:xfrm>
            <a:off x="6464808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OnPush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64808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Stratégie Default partout, compensée par ~29 detectChanges() manuels.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079992" y="1783080"/>
            <a:ext cx="2560320" cy="2743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079992" y="1783080"/>
            <a:ext cx="64008" cy="2743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2" name="Text 20"/>
          <p:cNvSpPr/>
          <p:nvPr/>
        </p:nvSpPr>
        <p:spPr>
          <a:xfrm>
            <a:off x="9308592" y="205740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B769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×5</a:t>
            </a:r>
            <a:endParaRPr lang="en-US" sz="3800" dirty="0"/>
          </a:p>
        </p:txBody>
      </p:sp>
      <p:sp>
        <p:nvSpPr>
          <p:cNvPr id="23" name="Text 21"/>
          <p:cNvSpPr/>
          <p:nvPr/>
        </p:nvSpPr>
        <p:spPr>
          <a:xfrm>
            <a:off x="9308592" y="2907792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dupliqué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308592" y="3273552"/>
            <a:ext cx="2148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theme.css legacy (244 Ko) + primeflex + primeicons : 1 copie globale + 4 copies dans main.js, ≈ 1,4 Mo.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48640" y="4983480"/>
            <a:ext cx="11091672" cy="868680"/>
          </a:xfrm>
          <a:prstGeom prst="rect">
            <a:avLst/>
          </a:prstGeom>
          <a:solidFill>
            <a:srgbClr val="DCEAF0"/>
          </a:solidFill>
          <a:ln/>
        </p:spPr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212080"/>
            <a:ext cx="384048" cy="384048"/>
          </a:xfrm>
          <a:prstGeom prst="rect">
            <a:avLst/>
          </a:prstGeom>
        </p:spPr>
      </p:pic>
      <p:sp>
        <p:nvSpPr>
          <p:cNvPr id="27" name="Text 24"/>
          <p:cNvSpPr/>
          <p:nvPr/>
        </p:nvSpPr>
        <p:spPr>
          <a:xfrm>
            <a:off x="1417320" y="4983480"/>
            <a:ext cx="9948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côté rendu : </a:t>
            </a:r>
            <a:pPr indent="0" marL="0">
              <a:buNone/>
            </a:pPr>
            <a:r>
              <a:rPr lang="en-US" sz="1250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transcription crée un &lt;div&gt; par mot, sans virtualisation — des milliers de nœuds re-vérifiés à chaque cycle de change detection.</a:t>
            </a:r>
            <a:endParaRPr lang="en-US" sz="1250" dirty="0"/>
          </a:p>
        </p:txBody>
      </p:sp>
      <p:sp>
        <p:nvSpPr>
          <p:cNvPr id="28" name="Text 25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ARBITRAGES VALIDÉS LE 22 JUILLET 2026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Trois décisions actées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83864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1874520"/>
            <a:ext cx="713232" cy="713232"/>
          </a:xfrm>
          <a:prstGeom prst="ellipse">
            <a:avLst/>
          </a:prstGeom>
          <a:solidFill>
            <a:srgbClr val="DCEAF0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057400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278892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Distribution :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fichier unique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868680" y="3584448"/>
            <a:ext cx="28895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 amalia-&lt;version&gt;.min.js conservé pour tous les intégrateurs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 dans le build : échec si un chunk apparaît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Lazy loading toujours possible plus tard (sortie ESM native)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352544" y="1554480"/>
            <a:ext cx="3483864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672584" y="1874520"/>
            <a:ext cx="713232" cy="713232"/>
          </a:xfrm>
          <a:prstGeom prst="ellipse">
            <a:avLst/>
          </a:prstGeom>
          <a:solidFill>
            <a:srgbClr val="DCEAF0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5464" y="2057400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672584" y="278892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Zoneless,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jusqu'au bout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4672584" y="3584448"/>
            <a:ext cx="28895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de zone.js en phase finale (9)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durs : audit des 118 setTimeout, 100 % des composants OnPush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Configuration « zoneful » de secours pendant 1 release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8156448" y="1554480"/>
            <a:ext cx="3483864" cy="4297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476488" y="1874520"/>
            <a:ext cx="713232" cy="713232"/>
          </a:xfrm>
          <a:prstGeom prst="ellipse">
            <a:avLst/>
          </a:prstGeom>
          <a:solidFill>
            <a:srgbClr val="DCEAF0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59368" y="2057400"/>
            <a:ext cx="347472" cy="347472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476488" y="2788920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primeicons →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sprite SVG maison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8476488" y="3584448"/>
            <a:ext cx="2889504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usages pi pi-* migrés vers le sprite existant (~80 icônes)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 les glyphes déjà cassés en shadow DOM (@font-face ignoré)</a:t>
            </a:r>
            <a:endParaRPr lang="en-US" sz="1150" dirty="0"/>
          </a:p>
          <a:p>
            <a:pPr marL="152400" indent="-152400">
              <a:spcAft>
                <a:spcPts val="800"/>
              </a:spcAft>
              <a:buSzPct val="100000"/>
              <a:buChar char="–"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−633 Ko de polices dans le dist, −120 Ko de CSS dupliqué</a:t>
            </a:r>
            <a:endParaRPr lang="en-US" sz="1150" dirty="0"/>
          </a:p>
        </p:txBody>
      </p:sp>
      <p:sp>
        <p:nvSpPr>
          <p:cNvPr id="19" name="Text 1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20" name="Text 1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CIBLE — RUNTIME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store de signals alimenté hors zone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flux d'événements du player devient un modèle de lecture réactif ; l'API publique ne change pas.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7" name="Text 5"/>
          <p:cNvSpPr/>
          <p:nvPr/>
        </p:nvSpPr>
        <p:spPr>
          <a:xfrm>
            <a:off x="713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&lt;video&gt; · &lt;audio&gt;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13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timeupdate natif (~4 Hz), seek, volume, vitesse…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50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2834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834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2" name="Text 10"/>
          <p:cNvSpPr/>
          <p:nvPr/>
        </p:nvSpPr>
        <p:spPr>
          <a:xfrm>
            <a:off x="2999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EventEmitter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2999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de vérité — API événementielle host inchangée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736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120640" y="2103120"/>
            <a:ext cx="1920240" cy="1600200"/>
          </a:xfrm>
          <a:prstGeom prst="rect">
            <a:avLst/>
          </a:prstGeom>
          <a:solidFill>
            <a:srgbClr val="085A75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85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PlaybackState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285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F0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écrits hors zone : currentTime, playing, duration…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022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406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406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Composants OnPush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571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computeds : time-bar, control-bar, subtitles, timeline…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308592" y="2647188"/>
            <a:ext cx="4023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692640" y="2103120"/>
            <a:ext cx="19202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692640" y="2103120"/>
            <a:ext cx="64008" cy="160020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6" name="Text 24"/>
          <p:cNvSpPr/>
          <p:nvPr/>
        </p:nvSpPr>
        <p:spPr>
          <a:xfrm>
            <a:off x="9857232" y="2267712"/>
            <a:ext cx="16276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tick coalescé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857232" y="2761488"/>
            <a:ext cx="162763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Scheduler hybride — seules les vues touchées sont re-rendues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1672" cy="1371600"/>
          </a:xfrm>
          <a:prstGeom prst="rect">
            <a:avLst/>
          </a:prstGeom>
          <a:solidFill>
            <a:srgbClr val="DCEAF0"/>
          </a:solidFill>
          <a:ln/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0056"/>
            <a:ext cx="384048" cy="384048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1417320" y="4526280"/>
            <a:ext cx="990295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50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Depuis Angular 18 (stable en 21), une écriture de signal hors zone programme un tick coalescé — en mode zone comme en zoneless.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composants migrent un par un vers playback.currentTime() ; le passage zoneless final se réduit à un échange de provider, sans big bang.</a:t>
            </a:r>
            <a:endParaRPr lang="en-US" sz="1250" dirty="0"/>
          </a:p>
        </p:txBody>
      </p:sp>
      <p:sp>
        <p:nvSpPr>
          <p:cNvPr id="31" name="Text 2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2" name="Text 2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11 phases, 3 chantiers — chaque phase livrable seule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7047" y="1874520"/>
            <a:ext cx="4764855" cy="475488"/>
          </a:xfrm>
          <a:prstGeom prst="roundRect">
            <a:avLst>
              <a:gd name="adj" fmla="val 17308"/>
            </a:avLst>
          </a:prstGeom>
          <a:solidFill>
            <a:srgbClr val="0B7698"/>
          </a:solidFill>
          <a:ln/>
        </p:spPr>
      </p:sp>
      <p:sp>
        <p:nvSpPr>
          <p:cNvPr id="5" name="Text 3"/>
          <p:cNvSpPr/>
          <p:nvPr/>
        </p:nvSpPr>
        <p:spPr>
          <a:xfrm>
            <a:off x="687047" y="1874520"/>
            <a:ext cx="476485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 · Fondations build &amp; styles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728716" y="1874520"/>
            <a:ext cx="3756521" cy="475488"/>
          </a:xfrm>
          <a:prstGeom prst="roundRect">
            <a:avLst>
              <a:gd name="adj" fmla="val 17308"/>
            </a:avLst>
          </a:prstGeom>
          <a:solidFill>
            <a:srgbClr val="1187B0"/>
          </a:solidFill>
          <a:ln/>
        </p:spPr>
      </p:sp>
      <p:sp>
        <p:nvSpPr>
          <p:cNvPr id="7" name="Text 5"/>
          <p:cNvSpPr/>
          <p:nvPr/>
        </p:nvSpPr>
        <p:spPr>
          <a:xfrm>
            <a:off x="5728716" y="1874520"/>
            <a:ext cx="375652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 · Architecture runtime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9597459" y="1874520"/>
            <a:ext cx="2069038" cy="475488"/>
          </a:xfrm>
          <a:prstGeom prst="roundRect">
            <a:avLst>
              <a:gd name="adj" fmla="val 17308"/>
            </a:avLst>
          </a:prstGeom>
          <a:solidFill>
            <a:srgbClr val="E8A13D"/>
          </a:solidFill>
          <a:ln/>
        </p:spPr>
      </p:sp>
      <p:sp>
        <p:nvSpPr>
          <p:cNvPr id="9" name="Text 7"/>
          <p:cNvSpPr/>
          <p:nvPr/>
        </p:nvSpPr>
        <p:spPr>
          <a:xfrm>
            <a:off x="9597459" y="1874520"/>
            <a:ext cx="206903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 · Zoneless &amp; clôture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1052807" y="3291840"/>
            <a:ext cx="10083338" cy="0"/>
          </a:xfrm>
          <a:prstGeom prst="line">
            <a:avLst/>
          </a:prstGeom>
          <a:noFill/>
          <a:ln w="31750">
            <a:solidFill>
              <a:srgbClr val="1D5A72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9051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96775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6775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30352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plan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727385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05109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805109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538686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wins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35719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813443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13443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547020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esbuild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744052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21776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821776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3555353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Dédup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2386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30110" y="3035808"/>
            <a:ext cx="512064" cy="512064"/>
          </a:xfrm>
          <a:prstGeom prst="ellipse">
            <a:avLst/>
          </a:prstGeom>
          <a:solidFill>
            <a:srgbClr val="0B7698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30110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4563687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tsconfig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760720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38444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38444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5572021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Standalone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769054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3E9B6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846778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846778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6580355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PlaybackState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777388" y="2958084"/>
            <a:ext cx="667512" cy="667512"/>
          </a:xfrm>
          <a:prstGeom prst="ellipse">
            <a:avLst/>
          </a:prstGeom>
          <a:solidFill>
            <a:srgbClr val="0A2E3B"/>
          </a:solidFill>
          <a:ln w="34925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7855112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55112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7588689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OnPush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×3 vagues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8863445" y="3035808"/>
            <a:ext cx="512064" cy="512064"/>
          </a:xfrm>
          <a:prstGeom prst="ellipse">
            <a:avLst/>
          </a:prstGeom>
          <a:solidFill>
            <a:srgbClr val="1187B0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863445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8597023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Hors-zone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@defer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9871779" y="3035808"/>
            <a:ext cx="512064" cy="512064"/>
          </a:xfrm>
          <a:prstGeom prst="ellipse">
            <a:avLst/>
          </a:prstGeom>
          <a:solidFill>
            <a:srgbClr val="E8A13D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871779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500" dirty="0"/>
          </a:p>
        </p:txBody>
      </p:sp>
      <p:sp>
        <p:nvSpPr>
          <p:cNvPr id="48" name="Text 46"/>
          <p:cNvSpPr/>
          <p:nvPr/>
        </p:nvSpPr>
        <p:spPr>
          <a:xfrm>
            <a:off x="9605356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Zoneless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10880113" y="3035808"/>
            <a:ext cx="512064" cy="512064"/>
          </a:xfrm>
          <a:prstGeom prst="ellipse">
            <a:avLst/>
          </a:prstGeom>
          <a:solidFill>
            <a:srgbClr val="E8A13D"/>
          </a:solidFill>
          <a:ln w="25400">
            <a:solidFill>
              <a:srgbClr val="0A2E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80113" y="303580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0613690" y="3730752"/>
            <a:ext cx="104491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Clôture &amp;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566928" y="4846320"/>
            <a:ext cx="219456" cy="219456"/>
          </a:xfrm>
          <a:prstGeom prst="ellipse">
            <a:avLst/>
          </a:prstGeom>
          <a:solidFill>
            <a:srgbClr val="0A2E3B"/>
          </a:solidFill>
          <a:ln w="28575">
            <a:solidFill>
              <a:srgbClr val="3E9B6E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77824" y="48280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1627632" y="4846320"/>
            <a:ext cx="219456" cy="219456"/>
          </a:xfrm>
          <a:prstGeom prst="ellipse">
            <a:avLst/>
          </a:prstGeom>
          <a:solidFill>
            <a:srgbClr val="0A2E3B"/>
          </a:solidFill>
          <a:ln w="28575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38528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cours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2944368" y="4846320"/>
            <a:ext cx="219456" cy="21945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57" name="Text 55"/>
          <p:cNvSpPr/>
          <p:nvPr/>
        </p:nvSpPr>
        <p:spPr>
          <a:xfrm>
            <a:off x="3255264" y="4828032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CC3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venir</a:t>
            </a:r>
            <a:endParaRPr lang="en-US" sz="1050" dirty="0"/>
          </a:p>
        </p:txBody>
      </p:sp>
      <p:sp>
        <p:nvSpPr>
          <p:cNvPr id="58" name="Shape 56"/>
          <p:cNvSpPr/>
          <p:nvPr/>
        </p:nvSpPr>
        <p:spPr>
          <a:xfrm>
            <a:off x="548640" y="5486400"/>
            <a:ext cx="11091672" cy="713232"/>
          </a:xfrm>
          <a:prstGeom prst="rect">
            <a:avLst/>
          </a:prstGeom>
          <a:solidFill>
            <a:srgbClr val="0E4A5F"/>
          </a:solidFill>
          <a:ln/>
        </p:spPr>
      </p:sp>
      <p:pic>
        <p:nvPicPr>
          <p:cNvPr id="5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669280"/>
            <a:ext cx="329184" cy="329184"/>
          </a:xfrm>
          <a:prstGeom prst="rect">
            <a:avLst/>
          </a:prstGeom>
        </p:spPr>
      </p:pic>
      <p:sp>
        <p:nvSpPr>
          <p:cNvPr id="60" name="Text 57"/>
          <p:cNvSpPr/>
          <p:nvPr/>
        </p:nvSpPr>
        <p:spPr>
          <a:xfrm>
            <a:off x="1325880" y="5486400"/>
            <a:ext cx="1004011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 systématiques à chaque phase :  </a:t>
            </a:r>
            <a:pPr indent="0" marL="0">
              <a:buNone/>
            </a:pPr>
            <a:r>
              <a:rPr lang="en-US" sz="12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 lint  ·  876 specs  ·  build production  ·  rapport de taille  ·  smoke checklist sur les samples</a:t>
            </a:r>
            <a:endParaRPr lang="en-US" sz="1200" dirty="0"/>
          </a:p>
        </p:txBody>
      </p:sp>
      <p:sp>
        <p:nvSpPr>
          <p:cNvPr id="61" name="Text 58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62" name="Text 59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 A — PHASES 0 → 4 · LIVRÉ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Fondations : build, styles, bundle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99870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69987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89888" y="1591056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Baseline &amp; plan persisté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389888" y="1911096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docs/refactoring/ (plan, checklists, audit), script size-report — 14,7 Mo de dist mesurés.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680960" y="1791310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1252" y="1841602"/>
            <a:ext cx="155448" cy="1554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2485339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2703881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270388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89888" y="2595067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Quick wins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389888" y="2915107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Coalescing de zone (1 CD/frame), hygiène package.json, mémoïsation des templates chauds, retrait de @angular/animations.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680960" y="2795321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1252" y="2845613"/>
            <a:ext cx="155448" cy="1554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48640" y="3489350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9808" y="3707892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0" name="Text 16"/>
          <p:cNvSpPr/>
          <p:nvPr/>
        </p:nvSpPr>
        <p:spPr>
          <a:xfrm>
            <a:off x="749808" y="370789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389888" y="3599078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Builder esbuild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1389888" y="3919118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@angular/build:application + karma moderne ; le concat devient copie + garde-fou anti-chunk ; EventEmitter interne (builtin Node banni).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7680960" y="3799332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1252" y="3849624"/>
            <a:ext cx="155448" cy="155448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48640" y="4493362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49808" y="4711903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7" name="Text 22"/>
          <p:cNvSpPr/>
          <p:nvPr/>
        </p:nvSpPr>
        <p:spPr>
          <a:xfrm>
            <a:off x="749808" y="471190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1389888" y="4603090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Déduplication des styles</a:t>
            </a:r>
            <a:endParaRPr lang="en-US" sz="1350" dirty="0"/>
          </a:p>
        </p:txBody>
      </p:sp>
      <p:sp>
        <p:nvSpPr>
          <p:cNvPr id="29" name="Text 24"/>
          <p:cNvSpPr/>
          <p:nvPr/>
        </p:nvSpPr>
        <p:spPr>
          <a:xfrm>
            <a:off x="1389888" y="4923130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Miroir des styles PrimeNG vers les shadow roots, suppression du theme.css legacy (244 Ko ×5), de primeflex et de primeicons.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7680960" y="4803343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1252" y="4853635"/>
            <a:ext cx="155448" cy="155448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548640" y="5497373"/>
            <a:ext cx="7635240" cy="875995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49808" y="5715914"/>
            <a:ext cx="438912" cy="438912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34" name="Text 28"/>
          <p:cNvSpPr/>
          <p:nvPr/>
        </p:nvSpPr>
        <p:spPr>
          <a:xfrm>
            <a:off x="749808" y="571591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1389888" y="5607101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Réductions JS &amp; tsconfig</a:t>
            </a:r>
            <a:endParaRPr lang="en-US" sz="1350" dirty="0"/>
          </a:p>
        </p:txBody>
      </p:sp>
      <p:sp>
        <p:nvSpPr>
          <p:cNvPr id="36" name="Text 30"/>
          <p:cNvSpPr/>
          <p:nvPr/>
        </p:nvSpPr>
        <p:spPr>
          <a:xfrm>
            <a:off x="1389888" y="5927141"/>
            <a:ext cx="6227064" cy="3547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lodash par méthode (8 fichiers), import type hls.js, isolatedModules + flags de rigueur ciblés.</a:t>
            </a:r>
            <a:endParaRPr lang="en-US" sz="1080" dirty="0"/>
          </a:p>
        </p:txBody>
      </p:sp>
      <p:sp>
        <p:nvSpPr>
          <p:cNvPr id="37" name="Shape 31"/>
          <p:cNvSpPr/>
          <p:nvPr/>
        </p:nvSpPr>
        <p:spPr>
          <a:xfrm>
            <a:off x="7680960" y="5807354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1252" y="5857646"/>
            <a:ext cx="155448" cy="155448"/>
          </a:xfrm>
          <a:prstGeom prst="rect">
            <a:avLst/>
          </a:prstGeom>
        </p:spPr>
      </p:pic>
      <p:sp>
        <p:nvSpPr>
          <p:cNvPr id="39" name="Shape 32"/>
          <p:cNvSpPr/>
          <p:nvPr/>
        </p:nvSpPr>
        <p:spPr>
          <a:xfrm>
            <a:off x="8503920" y="1481328"/>
            <a:ext cx="3136392" cy="4892040"/>
          </a:xfrm>
          <a:prstGeom prst="rect">
            <a:avLst/>
          </a:prstGeom>
          <a:solidFill>
            <a:srgbClr val="0B7698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40" name="Text 33"/>
          <p:cNvSpPr/>
          <p:nvPr/>
        </p:nvSpPr>
        <p:spPr>
          <a:xfrm>
            <a:off x="8778240" y="1755648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CB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MESURÉ</a:t>
            </a:r>
            <a:endParaRPr lang="en-US" sz="1050" dirty="0"/>
          </a:p>
        </p:txBody>
      </p:sp>
      <p:sp>
        <p:nvSpPr>
          <p:cNvPr id="41" name="Text 34"/>
          <p:cNvSpPr/>
          <p:nvPr/>
        </p:nvSpPr>
        <p:spPr>
          <a:xfrm>
            <a:off x="8778240" y="2048256"/>
            <a:ext cx="2587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−2,45 Mo</a:t>
            </a:r>
            <a:endParaRPr lang="en-US" sz="4000" dirty="0"/>
          </a:p>
        </p:txBody>
      </p:sp>
      <p:sp>
        <p:nvSpPr>
          <p:cNvPr id="42" name="Text 35"/>
          <p:cNvSpPr/>
          <p:nvPr/>
        </p:nvSpPr>
        <p:spPr>
          <a:xfrm>
            <a:off x="8778240" y="301752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main.js : 5,93 → 3,44 Mo (−41 %)</a:t>
            </a:r>
            <a:endParaRPr lang="en-US" sz="1200" dirty="0"/>
          </a:p>
        </p:txBody>
      </p:sp>
      <p:sp>
        <p:nvSpPr>
          <p:cNvPr id="43" name="Text 36"/>
          <p:cNvSpPr/>
          <p:nvPr/>
        </p:nvSpPr>
        <p:spPr>
          <a:xfrm>
            <a:off x="8778240" y="3694176"/>
            <a:ext cx="2633472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styles.css : 723 Ko → 18 octets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Polices dans le dist : 1,49 Mo → 0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 production : minutes → ~20 s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−396 paquets npm (toolchain Webpack)</a:t>
            </a:r>
            <a:endParaRPr lang="en-US" sz="1150" dirty="0"/>
          </a:p>
        </p:txBody>
      </p:sp>
      <p:sp>
        <p:nvSpPr>
          <p:cNvPr id="44" name="Text 3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45" name="Text 3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 B — PHASES 5 → 8 · EN COURS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 runtime : signals &amp; OnPush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825371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825371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89888" y="1591056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Standalone + createApplication()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389888" y="1911096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Neutre en comportement ; supprime AppModule et HttpClientModule déprécié ; specs migrées declarations → imports.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7680960" y="1916811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31252" y="1967103"/>
            <a:ext cx="155448" cy="155448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48640" y="2736342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49808" y="3080385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13" name="Text 10"/>
          <p:cNvSpPr/>
          <p:nvPr/>
        </p:nvSpPr>
        <p:spPr>
          <a:xfrm>
            <a:off x="749808" y="3080385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389888" y="2846070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PlaybackState + politique de zone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1389888" y="3166110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Signals hors zone par MediaPlayerElement ; addListener rétro-compatible avec politiques 'zone' | 'schedule' | 'none'.</a:t>
            </a:r>
            <a:endParaRPr lang="en-US" sz="1080" dirty="0"/>
          </a:p>
        </p:txBody>
      </p:sp>
      <p:sp>
        <p:nvSpPr>
          <p:cNvPr id="16" name="Shape 13"/>
          <p:cNvSpPr/>
          <p:nvPr/>
        </p:nvSpPr>
        <p:spPr>
          <a:xfrm>
            <a:off x="7680960" y="3171825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31252" y="3222117"/>
            <a:ext cx="155448" cy="155448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548640" y="3991356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749808" y="4335399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20" name="Text 16"/>
          <p:cNvSpPr/>
          <p:nvPr/>
        </p:nvSpPr>
        <p:spPr>
          <a:xfrm>
            <a:off x="749808" y="4335399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1389888" y="4101084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OnPush par vagues</a:t>
            </a:r>
            <a:endParaRPr lang="en-US" sz="1350" dirty="0"/>
          </a:p>
        </p:txBody>
      </p:sp>
      <p:sp>
        <p:nvSpPr>
          <p:cNvPr id="22" name="Text 18"/>
          <p:cNvSpPr/>
          <p:nvPr/>
        </p:nvSpPr>
        <p:spPr>
          <a:xfrm>
            <a:off x="1389888" y="4421124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composant = 1 PR. Vague 1 : toast, messages, subtitles, time-bar · Vague 2 : storyboard, histogram, transcription, timeline · Vague 3 : player, control-bar, annotation.</a:t>
            </a:r>
            <a:endParaRPr lang="en-US" sz="1080" dirty="0"/>
          </a:p>
        </p:txBody>
      </p:sp>
      <p:sp>
        <p:nvSpPr>
          <p:cNvPr id="23" name="Shape 19"/>
          <p:cNvSpPr/>
          <p:nvPr/>
        </p:nvSpPr>
        <p:spPr>
          <a:xfrm>
            <a:off x="7680960" y="4426839"/>
            <a:ext cx="256032" cy="256032"/>
          </a:xfrm>
          <a:prstGeom prst="ellipse">
            <a:avLst/>
          </a:prstGeom>
          <a:solidFill>
            <a:srgbClr val="FFFFFF"/>
          </a:solidFill>
          <a:ln w="28575">
            <a:solidFill>
              <a:srgbClr val="E8A13D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5824" y="4481703"/>
            <a:ext cx="146304" cy="146304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48640" y="5246370"/>
            <a:ext cx="7635240" cy="112699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749808" y="5590413"/>
            <a:ext cx="438912" cy="438912"/>
          </a:xfrm>
          <a:prstGeom prst="rect">
            <a:avLst/>
          </a:prstGeom>
          <a:solidFill>
            <a:srgbClr val="1187B0"/>
          </a:solidFill>
          <a:ln/>
        </p:spPr>
      </p:sp>
      <p:sp>
        <p:nvSpPr>
          <p:cNvPr id="27" name="Text 22"/>
          <p:cNvSpPr/>
          <p:nvPr/>
        </p:nvSpPr>
        <p:spPr>
          <a:xfrm>
            <a:off x="749808" y="5590413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8</a:t>
            </a:r>
            <a:endParaRPr lang="en-US" sz="1600" dirty="0"/>
          </a:p>
        </p:txBody>
      </p:sp>
      <p:sp>
        <p:nvSpPr>
          <p:cNvPr id="28" name="Text 23"/>
          <p:cNvSpPr/>
          <p:nvPr/>
        </p:nvSpPr>
        <p:spPr>
          <a:xfrm>
            <a:off x="1389888" y="5356098"/>
            <a:ext cx="62270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Hors-zone + @defer transcription</a:t>
            </a:r>
            <a:endParaRPr lang="en-US" sz="1350" dirty="0"/>
          </a:p>
        </p:txBody>
      </p:sp>
      <p:sp>
        <p:nvSpPr>
          <p:cNvPr id="29" name="Text 24"/>
          <p:cNvSpPr/>
          <p:nvPr/>
        </p:nvSpPr>
        <p:spPr>
          <a:xfrm>
            <a:off x="1389888" y="5676138"/>
            <a:ext cx="6227064" cy="6057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mousemove/scroll hors zone (rAF) ; rendu différé par segment avec placeholder isométrique ; triage des 118 setTimeout.</a:t>
            </a:r>
            <a:endParaRPr lang="en-US" sz="1080" dirty="0"/>
          </a:p>
        </p:txBody>
      </p:sp>
      <p:sp>
        <p:nvSpPr>
          <p:cNvPr id="30" name="Shape 25"/>
          <p:cNvSpPr/>
          <p:nvPr/>
        </p:nvSpPr>
        <p:spPr>
          <a:xfrm>
            <a:off x="7722108" y="5723001"/>
            <a:ext cx="173736" cy="173736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31" name="Shape 26"/>
          <p:cNvSpPr/>
          <p:nvPr/>
        </p:nvSpPr>
        <p:spPr>
          <a:xfrm>
            <a:off x="8503920" y="1481328"/>
            <a:ext cx="3136392" cy="4892040"/>
          </a:xfrm>
          <a:prstGeom prst="rect">
            <a:avLst/>
          </a:prstGeom>
          <a:solidFill>
            <a:srgbClr val="0B7698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32" name="Text 27"/>
          <p:cNvSpPr/>
          <p:nvPr/>
        </p:nvSpPr>
        <p:spPr>
          <a:xfrm>
            <a:off x="8778240" y="1755648"/>
            <a:ext cx="2587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CB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 ATTENDU</a:t>
            </a:r>
            <a:endParaRPr lang="en-US" sz="1050" dirty="0"/>
          </a:p>
        </p:txBody>
      </p:sp>
      <p:sp>
        <p:nvSpPr>
          <p:cNvPr id="33" name="Text 28"/>
          <p:cNvSpPr/>
          <p:nvPr/>
        </p:nvSpPr>
        <p:spPr>
          <a:xfrm>
            <a:off x="8778240" y="2048256"/>
            <a:ext cx="258775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×7 → 1</a:t>
            </a:r>
            <a:endParaRPr lang="en-US" sz="4000" dirty="0"/>
          </a:p>
        </p:txBody>
      </p:sp>
      <p:sp>
        <p:nvSpPr>
          <p:cNvPr id="34" name="Text 29"/>
          <p:cNvSpPr/>
          <p:nvPr/>
        </p:nvSpPr>
        <p:spPr>
          <a:xfrm>
            <a:off x="8778240" y="3017520"/>
            <a:ext cx="25877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 coalescé par timeupdate</a:t>
            </a:r>
            <a:endParaRPr lang="en-US" sz="1200" dirty="0"/>
          </a:p>
        </p:txBody>
      </p:sp>
      <p:sp>
        <p:nvSpPr>
          <p:cNvPr id="35" name="Text 30"/>
          <p:cNvSpPr/>
          <p:nvPr/>
        </p:nvSpPr>
        <p:spPr>
          <a:xfrm>
            <a:off x="8778240" y="3694176"/>
            <a:ext cx="2633472" cy="2404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Seules les vues OnPush touchées sont re-vérifiées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Survol du player au repos : zéro tick</a:t>
            </a:r>
            <a:endParaRPr lang="en-US" sz="1150" dirty="0"/>
          </a:p>
          <a:p>
            <a:pPr marL="152400" indent="-152400">
              <a:spcAft>
                <a:spcPts val="1200"/>
              </a:spcAft>
              <a:buSzPct val="100000"/>
              <a:buChar char="–"/>
            </a:pPr>
            <a:r>
              <a:rPr lang="en-US" sz="1150" dirty="0">
                <a:solidFill>
                  <a:srgbClr val="E3F0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Transcriptions longues : coût initial ≈ divisé par le nombre de segments hors écran</a:t>
            </a:r>
            <a:endParaRPr lang="en-US" sz="1150" dirty="0"/>
          </a:p>
        </p:txBody>
      </p:sp>
      <p:sp>
        <p:nvSpPr>
          <p:cNvPr id="36" name="Text 31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7" name="Text 32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CHANTIER C — PHASES 9 → 10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Zoneless, puis clôture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8064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737360"/>
            <a:ext cx="438912" cy="438912"/>
          </a:xfrm>
          <a:prstGeom prst="rect">
            <a:avLst/>
          </a:prstGeom>
          <a:solidFill>
            <a:srgbClr val="E8A13D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" y="17373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9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89888" y="1627632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Zoneless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1389888" y="1984248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provideZonelessChangeDetection(), retrait de zone.js (−35 Ko gzip, fin de l'interception des tâches), suppression de la branche 'zone' de PluginBase.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580644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49808" y="3273552"/>
            <a:ext cx="438912" cy="438912"/>
          </a:xfrm>
          <a:prstGeom prst="rect">
            <a:avLst/>
          </a:prstGeom>
          <a:solidFill>
            <a:srgbClr val="E8A13D"/>
          </a:solidFill>
          <a:ln/>
        </p:spPr>
      </p:sp>
      <p:sp>
        <p:nvSpPr>
          <p:cNvPr id="11" name="Text 9"/>
          <p:cNvSpPr/>
          <p:nvPr/>
        </p:nvSpPr>
        <p:spPr>
          <a:xfrm>
            <a:off x="749808" y="3273552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B2A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389888" y="3163824"/>
            <a:ext cx="4754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Clôture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389888" y="35204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8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resserrés (4,2 / 4,5 Mo), CHANGELOG, vérification des docs d'intégration — le contrat mono-fichier reste inchangé.</a:t>
            </a:r>
            <a:endParaRPr lang="en-US" sz="1080" dirty="0"/>
          </a:p>
        </p:txBody>
      </p:sp>
      <p:sp>
        <p:nvSpPr>
          <p:cNvPr id="14" name="Shape 12"/>
          <p:cNvSpPr/>
          <p:nvPr/>
        </p:nvSpPr>
        <p:spPr>
          <a:xfrm>
            <a:off x="548640" y="4645152"/>
            <a:ext cx="5806440" cy="1417320"/>
          </a:xfrm>
          <a:prstGeom prst="rect">
            <a:avLst/>
          </a:prstGeom>
          <a:solidFill>
            <a:srgbClr val="DCEAF0"/>
          </a:solidFill>
          <a:ln/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5148072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1389888" y="47823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Rollback maîtrisé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commit à reverter, et une configuration de build « zoneful » conservée dans angular.json pendant une release complète.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720840" y="1481328"/>
            <a:ext cx="4919472" cy="4572000"/>
          </a:xfrm>
          <a:prstGeom prst="rect">
            <a:avLst/>
          </a:prstGeom>
          <a:solidFill>
            <a:srgbClr val="0A2E3B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0" y="1801368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7589520" y="1773936"/>
            <a:ext cx="38221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Gates durs avant le zoneless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7086600" y="2542032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488936" y="2505456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des 118 setTimeout soldé (catégories « mutation d'état » et « attente de rendu »)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7086600" y="3255264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7488936" y="3218688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13 composants passés en OnPush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7086600" y="3968496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7488936" y="3931920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aucun listener en politique « zone »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7086600" y="4681728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488936" y="4645152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1 → 8 en production depuis ≥ 1 cycle de release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7086600" y="5394960"/>
            <a:ext cx="219456" cy="219456"/>
          </a:xfrm>
          <a:prstGeom prst="ellipse">
            <a:avLst/>
          </a:prstGeom>
          <a:solidFill>
            <a:srgbClr val="0A2E3B"/>
          </a:solidFill>
          <a:ln w="25400">
            <a:solidFill>
              <a:srgbClr val="DCEAF0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7488936" y="5358384"/>
            <a:ext cx="384962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provideCheckNoChangesConfig({ exhaustive }) actif en dev pour traquer les notifications manquées</a:t>
            </a:r>
            <a:endParaRPr lang="en-US" sz="1150" dirty="0"/>
          </a:p>
        </p:txBody>
      </p:sp>
      <p:sp>
        <p:nvSpPr>
          <p:cNvPr id="30" name="Text 26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RÉSULTATS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Ce que ça change, en chiffres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Tailles de main.js mesurées par phase (Mo, non compressé) — suivies par scripts/size-report.mjs à chaque livraison.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6720840" cy="4343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graphicFrame>
        <p:nvGraphicFramePr>
          <p:cNvPr id="6" name="Chart 0" descr=""/>
          <p:cNvGraphicFramePr/>
          <p:nvPr/>
        </p:nvGraphicFramePr>
        <p:xfrm>
          <a:off x="777240" y="1920240"/>
          <a:ext cx="626364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7589520" y="169164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7589520" y="169164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9" name="Text 6"/>
          <p:cNvSpPr/>
          <p:nvPr/>
        </p:nvSpPr>
        <p:spPr>
          <a:xfrm>
            <a:off x="7845552" y="180136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×7 → 1</a:t>
            </a:r>
            <a:endParaRPr lang="en-US" sz="2100" dirty="0"/>
          </a:p>
        </p:txBody>
      </p:sp>
      <p:sp>
        <p:nvSpPr>
          <p:cNvPr id="10" name="Text 7"/>
          <p:cNvSpPr/>
          <p:nvPr/>
        </p:nvSpPr>
        <p:spPr>
          <a:xfrm>
            <a:off x="7845552" y="226771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detections par timeupdate (phase 7, en cours)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589520" y="280416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589520" y="280416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3" name="Text 10"/>
          <p:cNvSpPr/>
          <p:nvPr/>
        </p:nvSpPr>
        <p:spPr>
          <a:xfrm>
            <a:off x="7845552" y="291388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723 Ko → 18 o</a:t>
            </a:r>
            <a:endParaRPr lang="en-US" sz="2100" dirty="0"/>
          </a:p>
        </p:txBody>
      </p:sp>
      <p:sp>
        <p:nvSpPr>
          <p:cNvPr id="14" name="Text 11"/>
          <p:cNvSpPr/>
          <p:nvPr/>
        </p:nvSpPr>
        <p:spPr>
          <a:xfrm>
            <a:off x="7845552" y="338023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styles.css global (fait)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7589520" y="391668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7589520" y="391668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17" name="Text 14"/>
          <p:cNvSpPr/>
          <p:nvPr/>
        </p:nvSpPr>
        <p:spPr>
          <a:xfrm>
            <a:off x="7845552" y="402640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1,49 Mo → 0</a:t>
            </a:r>
            <a:endParaRPr lang="en-US" sz="2100" dirty="0"/>
          </a:p>
        </p:txBody>
      </p:sp>
      <p:sp>
        <p:nvSpPr>
          <p:cNvPr id="18" name="Text 15"/>
          <p:cNvSpPr/>
          <p:nvPr/>
        </p:nvSpPr>
        <p:spPr>
          <a:xfrm>
            <a:off x="7845552" y="449275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polices dans le dist (fait)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7589520" y="5029200"/>
            <a:ext cx="4050792" cy="1005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7589520" y="5029200"/>
            <a:ext cx="64008" cy="1005840"/>
          </a:xfrm>
          <a:prstGeom prst="rect">
            <a:avLst/>
          </a:prstGeom>
          <a:solidFill>
            <a:srgbClr val="0B7698"/>
          </a:solidFill>
          <a:ln/>
        </p:spPr>
      </p:sp>
      <p:sp>
        <p:nvSpPr>
          <p:cNvPr id="21" name="Text 18"/>
          <p:cNvSpPr/>
          <p:nvPr/>
        </p:nvSpPr>
        <p:spPr>
          <a:xfrm>
            <a:off x="7845552" y="5138928"/>
            <a:ext cx="3593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085A7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minutes → ~20 s</a:t>
            </a:r>
            <a:endParaRPr lang="en-US" sz="2100" dirty="0"/>
          </a:p>
        </p:txBody>
      </p:sp>
      <p:sp>
        <p:nvSpPr>
          <p:cNvPr id="22" name="Text 19"/>
          <p:cNvSpPr/>
          <p:nvPr/>
        </p:nvSpPr>
        <p:spPr>
          <a:xfrm>
            <a:off x="7845552" y="5605272"/>
            <a:ext cx="35935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de production (fait, Webpack → esbuild)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0B769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 DU RISQUE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3303B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Risques identifiés, garde-fous prévus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417320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RISQUE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269480" y="1463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50" kern="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GARDE-FOU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48640" y="1828800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057400"/>
            <a:ext cx="292608" cy="29260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1828800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Coalescing : latence d'une frame perçue sur drag et menus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6720840" y="1975104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6288" y="2084832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269480" y="182880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d'une seule ligne — revert immédiat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548640" y="2688336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916936"/>
            <a:ext cx="292608" cy="29260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417320" y="2688336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Suppression du theme.css : régressions visuelles dans les zones PrimeNG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6720840" y="2834640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2944368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269480" y="2688336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Miroir shadow DOM posé avant la suppression ; commits séparés ; checklist visuelle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548640" y="3547872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2960" y="3776472"/>
            <a:ext cx="292608" cy="292608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1417320" y="3547872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OnPush : vue figée si une notification de changement manque</a:t>
            </a:r>
            <a:endParaRPr lang="en-US" sz="1150" dirty="0"/>
          </a:p>
        </p:txBody>
      </p:sp>
      <p:sp>
        <p:nvSpPr>
          <p:cNvPr id="21" name="Shape 14"/>
          <p:cNvSpPr/>
          <p:nvPr/>
        </p:nvSpPr>
        <p:spPr>
          <a:xfrm>
            <a:off x="6720840" y="3694176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2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6288" y="3803904"/>
            <a:ext cx="237744" cy="237744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269480" y="3547872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composant par PR ; checkNoChanges exhaustif en dev ; revert par composant</a:t>
            </a:r>
            <a:endParaRPr lang="en-US" sz="1100" dirty="0"/>
          </a:p>
        </p:txBody>
      </p:sp>
      <p:sp>
        <p:nvSpPr>
          <p:cNvPr id="24" name="Shape 16"/>
          <p:cNvSpPr/>
          <p:nvPr/>
        </p:nvSpPr>
        <p:spPr>
          <a:xfrm>
            <a:off x="548640" y="4407408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2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2960" y="4636008"/>
            <a:ext cx="292608" cy="292608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1417320" y="4407408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@defer transcription : recherche sur des blocs non hydratés</a:t>
            </a:r>
            <a:endParaRPr lang="en-US" sz="1150" dirty="0"/>
          </a:p>
        </p:txBody>
      </p:sp>
      <p:sp>
        <p:nvSpPr>
          <p:cNvPr id="27" name="Shape 18"/>
          <p:cNvSpPr/>
          <p:nvPr/>
        </p:nvSpPr>
        <p:spPr>
          <a:xfrm>
            <a:off x="6720840" y="4553712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76288" y="4663440"/>
            <a:ext cx="237744" cy="237744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7269480" y="4407408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 forceRenderAll ; placeholder isométrique ; feature-flag dans la config du plugin</a:t>
            </a:r>
            <a:endParaRPr lang="en-US" sz="1100" dirty="0"/>
          </a:p>
        </p:txBody>
      </p:sp>
      <p:sp>
        <p:nvSpPr>
          <p:cNvPr id="30" name="Shape 20"/>
          <p:cNvSpPr/>
          <p:nvPr/>
        </p:nvSpPr>
        <p:spPr>
          <a:xfrm>
            <a:off x="548640" y="5266944"/>
            <a:ext cx="11091672" cy="7498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25400" dir="8100000">
              <a:srgbClr val="0A2E3B">
                <a:alpha val="14000"/>
              </a:srgbClr>
            </a:outerShdw>
          </a:effectLst>
        </p:spPr>
      </p:sp>
      <p:pic>
        <p:nvPicPr>
          <p:cNvPr id="31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" y="5495544"/>
            <a:ext cx="292608" cy="292608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1417320" y="5266944"/>
            <a:ext cx="5212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330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Zoneless : un setTimeout mutateur oublié fige le rendu</a:t>
            </a:r>
            <a:endParaRPr lang="en-US" sz="1150" dirty="0"/>
          </a:p>
        </p:txBody>
      </p:sp>
      <p:sp>
        <p:nvSpPr>
          <p:cNvPr id="33" name="Shape 22"/>
          <p:cNvSpPr/>
          <p:nvPr/>
        </p:nvSpPr>
        <p:spPr>
          <a:xfrm>
            <a:off x="6720840" y="5413248"/>
            <a:ext cx="0" cy="457200"/>
          </a:xfrm>
          <a:prstGeom prst="line">
            <a:avLst/>
          </a:prstGeom>
          <a:noFill/>
          <a:ln w="12700">
            <a:solidFill>
              <a:srgbClr val="DCE7EB"/>
            </a:solidFill>
            <a:prstDash val="solid"/>
          </a:ln>
        </p:spPr>
      </p:sp>
      <p:pic>
        <p:nvPicPr>
          <p:cNvPr id="34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76288" y="5522976"/>
            <a:ext cx="237744" cy="237744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7269480" y="5266944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E7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exhaustif en gate ; configuration « zoneful » de secours pendant 1 release</a:t>
            </a:r>
            <a:endParaRPr lang="en-US" sz="1100" dirty="0"/>
          </a:p>
        </p:txBody>
      </p:sp>
      <p:sp>
        <p:nvSpPr>
          <p:cNvPr id="36" name="Text 24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7" name="Text 25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A8B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2E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64040" y="5692140"/>
            <a:ext cx="118872" cy="708660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3" name="Shape 1"/>
          <p:cNvSpPr/>
          <p:nvPr/>
        </p:nvSpPr>
        <p:spPr>
          <a:xfrm>
            <a:off x="9652635" y="5404104"/>
            <a:ext cx="118872" cy="996696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4" name="Shape 2"/>
          <p:cNvSpPr/>
          <p:nvPr/>
        </p:nvSpPr>
        <p:spPr>
          <a:xfrm>
            <a:off x="9841230" y="5788152"/>
            <a:ext cx="118872" cy="612648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5" name="Shape 3"/>
          <p:cNvSpPr/>
          <p:nvPr/>
        </p:nvSpPr>
        <p:spPr>
          <a:xfrm>
            <a:off x="10029825" y="5212080"/>
            <a:ext cx="118872" cy="1188720"/>
          </a:xfrm>
          <a:prstGeom prst="roundRect">
            <a:avLst>
              <a:gd name="adj" fmla="val 46154"/>
            </a:avLst>
          </a:prstGeom>
          <a:solidFill>
            <a:srgbClr val="DCEAF0"/>
          </a:solidFill>
          <a:ln/>
        </p:spPr>
      </p:sp>
      <p:sp>
        <p:nvSpPr>
          <p:cNvPr id="6" name="Shape 4"/>
          <p:cNvSpPr/>
          <p:nvPr/>
        </p:nvSpPr>
        <p:spPr>
          <a:xfrm>
            <a:off x="10218420" y="5548122"/>
            <a:ext cx="118872" cy="852678"/>
          </a:xfrm>
          <a:prstGeom prst="roundRect">
            <a:avLst>
              <a:gd name="adj" fmla="val 46154"/>
            </a:avLst>
          </a:prstGeom>
          <a:solidFill>
            <a:srgbClr val="0B7698"/>
          </a:solidFill>
          <a:ln/>
        </p:spPr>
      </p:sp>
      <p:sp>
        <p:nvSpPr>
          <p:cNvPr id="7" name="Shape 5"/>
          <p:cNvSpPr/>
          <p:nvPr/>
        </p:nvSpPr>
        <p:spPr>
          <a:xfrm>
            <a:off x="10407015" y="5836158"/>
            <a:ext cx="118872" cy="564642"/>
          </a:xfrm>
          <a:prstGeom prst="roundRect">
            <a:avLst>
              <a:gd name="adj" fmla="val 46154"/>
            </a:avLst>
          </a:prstGeom>
          <a:solidFill>
            <a:srgbClr val="156A87"/>
          </a:solidFill>
          <a:ln/>
        </p:spPr>
      </p:sp>
      <p:sp>
        <p:nvSpPr>
          <p:cNvPr id="8" name="Shape 6"/>
          <p:cNvSpPr/>
          <p:nvPr/>
        </p:nvSpPr>
        <p:spPr>
          <a:xfrm>
            <a:off x="10595610" y="5308092"/>
            <a:ext cx="118872" cy="1092708"/>
          </a:xfrm>
          <a:prstGeom prst="roundRect">
            <a:avLst>
              <a:gd name="adj" fmla="val 46154"/>
            </a:avLst>
          </a:prstGeom>
          <a:solidFill>
            <a:srgbClr val="E8A13D"/>
          </a:solidFill>
          <a:ln/>
        </p:spPr>
      </p:sp>
      <p:sp>
        <p:nvSpPr>
          <p:cNvPr id="9" name="Shape 7"/>
          <p:cNvSpPr/>
          <p:nvPr/>
        </p:nvSpPr>
        <p:spPr>
          <a:xfrm>
            <a:off x="10784205" y="5644134"/>
            <a:ext cx="118872" cy="756666"/>
          </a:xfrm>
          <a:prstGeom prst="roundRect">
            <a:avLst>
              <a:gd name="adj" fmla="val 46154"/>
            </a:avLst>
          </a:prstGeom>
          <a:solidFill>
            <a:srgbClr val="1187B0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PILOTAGE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621792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Une exécution incrémentale et réversible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548640" y="1600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AU 23 JUILLET 2026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66928" y="2057400"/>
            <a:ext cx="274320" cy="274320"/>
          </a:xfrm>
          <a:prstGeom prst="ellipse">
            <a:avLst/>
          </a:prstGeom>
          <a:solidFill>
            <a:srgbClr val="0A2E3B"/>
          </a:solidFill>
          <a:ln w="28575">
            <a:solidFill>
              <a:srgbClr val="3E9B6E"/>
            </a:solidFill>
            <a:prstDash val="solid"/>
          </a:ln>
        </p:spPr>
      </p:sp>
      <p:pic>
        <p:nvPicPr>
          <p:cNvPr id="1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1792" y="2112264"/>
            <a:ext cx="164592" cy="16459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1051560" y="1938528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0 → 6 livrées — esbuild, dédup styles, standalone, PlaybackState : main.js 5,93 → 3,44 Mo (−41 %)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566928" y="2770632"/>
            <a:ext cx="274320" cy="274320"/>
          </a:xfrm>
          <a:prstGeom prst="ellipse">
            <a:avLst/>
          </a:prstGeom>
          <a:solidFill>
            <a:srgbClr val="0A2E3B"/>
          </a:solidFill>
          <a:ln w="28575">
            <a:solidFill>
              <a:srgbClr val="E8A13D"/>
            </a:solidFill>
            <a:prstDash val="solid"/>
          </a:ln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" y="2830068"/>
            <a:ext cx="155448" cy="1554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1051560" y="265176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7 : OnPush composant par composant — vague 1 (toast, messages, subtitles, time-bar) en cours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603504" y="3520440"/>
            <a:ext cx="201168" cy="201168"/>
          </a:xfrm>
          <a:prstGeom prst="ellipse">
            <a:avLst/>
          </a:prstGeom>
          <a:solidFill>
            <a:srgbClr val="0B7698"/>
          </a:solidFill>
          <a:ln/>
        </p:spPr>
      </p:sp>
      <p:sp>
        <p:nvSpPr>
          <p:cNvPr id="20" name="Text 16"/>
          <p:cNvSpPr/>
          <p:nvPr/>
        </p:nvSpPr>
        <p:spPr>
          <a:xfrm>
            <a:off x="1051560" y="3364992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8 → 10 : hors-zone + @defer transcription, zoneless, clôture — gates à chaque étape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548640" y="4434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50" kern="0" dirty="0">
                <a:solidFill>
                  <a:srgbClr val="7FB6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PHASE PASSE LES MÊMES GATES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548640" y="4800600"/>
            <a:ext cx="1065276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48640" y="4800600"/>
            <a:ext cx="106527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 lint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1842516" y="4800600"/>
            <a:ext cx="1847088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1842516" y="4800600"/>
            <a:ext cx="18470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876 specs vertes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3918204" y="4800600"/>
            <a:ext cx="2628900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3918204" y="4800600"/>
            <a:ext cx="26289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+ rapport de taille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775704" y="4800600"/>
            <a:ext cx="2455164" cy="457200"/>
          </a:xfrm>
          <a:prstGeom prst="roundRect">
            <a:avLst>
              <a:gd name="adj" fmla="val 48000"/>
            </a:avLst>
          </a:prstGeom>
          <a:solidFill>
            <a:srgbClr val="0E4A5F"/>
          </a:solidFill>
          <a:ln w="12700">
            <a:solidFill>
              <a:srgbClr val="1D5A72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775704" y="4800600"/>
            <a:ext cx="24551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smoke checklist samples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548640" y="589788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complet et suivi par phase : </a:t>
            </a:r>
            <a:pPr indent="0" marL="0">
              <a:buNone/>
            </a:pPr>
            <a:r>
              <a:rPr lang="en-US" sz="1150" b="1" dirty="0">
                <a:solidFill>
                  <a:srgbClr val="AFCED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docs/refactoring/PLAN-PERF-2026.md</a:t>
            </a:r>
            <a:endParaRPr lang="en-US" sz="1150" dirty="0"/>
          </a:p>
        </p:txBody>
      </p:sp>
      <p:sp>
        <p:nvSpPr>
          <p:cNvPr id="31" name="Text 27"/>
          <p:cNvSpPr/>
          <p:nvPr/>
        </p:nvSpPr>
        <p:spPr>
          <a:xfrm>
            <a:off x="548640" y="647395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Amalia core · Refactoring performance v21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11091672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Roadmap refactoring performance — Amalia core (Angular 21 / PrimeNG 21)</dc:title>
  <dc:subject>PptxGenJS Presentation</dc:subject>
  <dc:creator>Amalia core</dc:creator>
  <cp:lastModifiedBy>Amalia core</cp:lastModifiedBy>
  <cp:revision>1</cp:revision>
  <dcterms:created xsi:type="dcterms:W3CDTF">2026-07-23T09:01:20Z</dcterms:created>
  <dcterms:modified xsi:type="dcterms:W3CDTF">2026-07-23T09:01:20Z</dcterms:modified>
</cp:coreProperties>
</file>